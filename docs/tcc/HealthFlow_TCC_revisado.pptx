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[0:00–0:20] Cumprimentar a banca, apresentar a equipe e o orientador. Frase-chave: o HealthFlow é um protótipo para apoiar a gestão de fluxo e a comunicação em clínicas. Explicar que serão distinguidos o que foi implementado, validado localmente e planejado.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[0:20–1:10] Apresentar o problema como hipótese de pesquisa: em fluxos manuais, pacientes perguntam repetidamente sobre a espera; a recepção acumula interrupções; a gestão tem menor visibilidade de gargalos. A validação com clínica parceira ainda é uma etapa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[1:10–2:00] Explicar o objetivo: construir um protótipo web para organizar consultas e dar mais visibilidade ao fluxo. O painel administrativo está demonstrado; a visão do paciente segue em evolução. Não afirmar redução de espera antes do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[2:00–3:10] Narrar os screenshots: o painel reúne informações demonstrativas; a recepção registra o check-in; a equipe atualiza o status; o painel reflete o fluxo. Destacar que os dados exibidos são de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[3:10–4:10] Descrever apenas o stack atual: React/Vite no frontend, Express com TypeScript na API e PostgreSQL com migrations SQL. A arquitetura é um monólito modular. Serviços de borda e infraestrutura de produção são planejamento, não serviços já contratados.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[4:10–5:10] O tenant é obtido do JWT e associado ao contexto da transação. Isso protege o fluxo da aplicação, mas políticas RLS e testes com PostgreSQL isolado ainda precisam ser executados. Reforçar que LGPD exige avaliação jurídica antes de qualquer piloto com dados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[5:10–6:00] Mostrar o escopo entregue sem superestimar: rotas protegidas, autenticação, painel administrativo e testes automatizados. A validação atual é local; produção, usuários, integração real com banco isolado e comercialização ainda não começaram.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[6:00–6:50] Separar evidências de metas. Evidências: 16 testes Jest aprovados, nenhuma falha nesses testes e builds de backend e frontend concluídos. Integração com PostgreSQL, RLS, carga e disponibilidade contínua permanecem pendentes. As metas do piloto são propostas, não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[6:50–7:40] Apresentar preços, custos e mercado como hipóteses de modelo de negócio. Não há validação comercial, clientes contratados ou empresa formal. A finalidade do slide é indicar como o piloto poderá gerar evidências para avaliar viabilidade.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[7:40–8:40] Explicar a sequência: primeiro testes reais de migrations, PostgreSQL e RLS; depois privacidade e requisitos jurídicos; somente então um piloto com usuários; por fim, análise da viabilidade e formalização. Dados pessoais não devem entrar no piloto antes dessas condições.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200">
                <a:latin typeface="Calibri"/>
              </a:rPr>
              <a:t>[8:40–9:00] Fechar com três aprendizados: simplicidade arquitetural, segurança por tenant com RLS ainda a validar e necessidade de evidências técnicas e com usuários. Agradecer à banca, ao orientador, ao SENAI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HealthFlow · TCC · SENAI Candeias – BA ·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HealthFlow · TCC · SENAI Candeias – BA ·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 1"/>
          <p:cNvSpPr/>
          <p:nvPr/>
        </p:nvSpPr>
        <p:spPr>
          <a:xfrm>
            <a:off x="6035040" y="-1188720"/>
            <a:ext cx="4754880" cy="4754880"/>
          </a:xfrm>
          <a:prstGeom prst="ellipse">
            <a:avLst/>
          </a:prstGeom>
          <a:solidFill>
            <a:schemeClr val="tx1"/>
          </a:solidFill>
          <a:ln w="15875">
            <a:solidFill>
              <a:srgbClr val="1BB5A0">
                <a:alpha val="45000"/>
              </a:srgbClr>
            </a:solidFill>
            <a:prstDash val="solid"/>
          </a:ln>
        </p:spPr>
      </p:sp>
      <p:sp>
        <p:nvSpPr>
          <p:cNvPr id="3" name="Círculo decorativo 2"/>
          <p:cNvSpPr/>
          <p:nvPr/>
        </p:nvSpPr>
        <p:spPr>
          <a:xfrm>
            <a:off x="6858000" y="-365760"/>
            <a:ext cx="3108960" cy="3108960"/>
          </a:xfrm>
          <a:prstGeom prst="ellipse">
            <a:avLst/>
          </a:prstGeom>
          <a:solidFill>
            <a:schemeClr val="tx1"/>
          </a:solidFill>
          <a:ln w="15875">
            <a:solidFill>
              <a:srgbClr val="1BB5A0">
                <a:alpha val="60000"/>
              </a:srgbClr>
            </a:solidFill>
            <a:prstDash val="solid"/>
          </a:ln>
        </p:spPr>
      </p:sp>
      <p:sp>
        <p:nvSpPr>
          <p:cNvPr id="4" name="Ícone coração círculo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Ícone coração" descr="Ícone cor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HealthFlow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A1F33"/>
                </a:solidFill>
                <a:latin typeface="Calibri"/>
              </a:rPr>
              <a:t>Gestão de fluxo e comunicação para clínicas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B637A"/>
                </a:solidFill>
                <a:latin typeface="Calibri"/>
              </a:rPr>
              <a:t>Trabalho de Conclusão de Curso  ·  SENAI Candeias – BA  ·  2026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03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31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0A1F33"/>
                </a:solidFill>
                <a:latin typeface="Calibri"/>
              </a:rPr>
              <a:t>Isabella Almeida · Lucas Fortuna · Murilo de Jesus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A1F33"/>
                </a:solidFill>
                <a:latin typeface="Calibri"/>
              </a:rPr>
              <a:t>Maria Eduarda Andrade · Alef Sena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585216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Adalberto Teixeira Santana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Calibri"/>
              </a:rPr>
              <a:t>O problema: espera sem previsibilidade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DE PEQUENO E MÉDIO PORTE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Calibri"/>
              </a:rPr>
              <a:t>Quanto falta para ser atendido?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C9D6E2"/>
                </a:solidFill>
                <a:latin typeface="Calibri"/>
              </a:rPr>
              <a:t>Em fluxos manuais, a espera raramente é previsível — e a mesma dúvida se repete entre pacientes, recepção e gestão.</a:t>
            </a:r>
            <a:endParaRPr lang="en-US" sz="1600" dirty="0"/>
          </a:p>
        </p:txBody>
      </p:sp>
      <p:sp>
        <p:nvSpPr>
          <p:cNvPr id="6" name="Cartão Paciente"/>
          <p:cNvSpPr/>
          <p:nvPr/>
        </p:nvSpPr>
        <p:spPr>
          <a:xfrm>
            <a:off x="4480560" y="118872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7" name="Ícone Paciente círculo"/>
          <p:cNvSpPr/>
          <p:nvPr/>
        </p:nvSpPr>
        <p:spPr>
          <a:xfrm>
            <a:off x="4663440" y="139903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Ícone Paciente" descr="Ícone Pac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5361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94960" y="1280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554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C9D6E2"/>
                </a:solidFill>
                <a:latin typeface="Calibri"/>
              </a:rPr>
              <a:t>Não sabe sua posição na fila nem a previsão de atendimento.</a:t>
            </a:r>
            <a:endParaRPr lang="en-US" sz="1200" dirty="0"/>
          </a:p>
        </p:txBody>
      </p:sp>
      <p:sp>
        <p:nvSpPr>
          <p:cNvPr id="11" name="Cartão Recepção"/>
          <p:cNvSpPr/>
          <p:nvPr/>
        </p:nvSpPr>
        <p:spPr>
          <a:xfrm>
            <a:off x="4480560" y="2267712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2" name="Ícone Recepção círculo"/>
          <p:cNvSpPr/>
          <p:nvPr/>
        </p:nvSpPr>
        <p:spPr>
          <a:xfrm>
            <a:off x="4663440" y="2478024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Ícone Recepção" descr="Ícone Recep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61518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2359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394960" y="26334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C9D6E2"/>
                </a:solidFill>
                <a:latin typeface="Calibri"/>
              </a:rPr>
              <a:t>Registra em papel ou planilha e responde repetidamente sobre atrasos.</a:t>
            </a:r>
            <a:endParaRPr lang="en-US" sz="1200" dirty="0"/>
          </a:p>
        </p:txBody>
      </p:sp>
      <p:sp>
        <p:nvSpPr>
          <p:cNvPr id="16" name="Cartão Gestão"/>
          <p:cNvSpPr/>
          <p:nvPr/>
        </p:nvSpPr>
        <p:spPr>
          <a:xfrm>
            <a:off x="4480560" y="3346704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7" name="Ícone Gestão círculo"/>
          <p:cNvSpPr/>
          <p:nvPr/>
        </p:nvSpPr>
        <p:spPr>
          <a:xfrm>
            <a:off x="4663440" y="3557016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Ícone Gestão" descr="Ícone Gest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69417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34381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394960" y="37124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C9D6E2"/>
                </a:solidFill>
                <a:latin typeface="Calibri"/>
              </a:rPr>
              <a:t>Sem dados consolidados, identificar gargalos e priorizar melhorias é mais difícil.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C9D6E2"/>
                </a:solidFill>
                <a:latin typeface="Calibri"/>
              </a:rPr>
              <a:t>Fonte: elaboração dos autores (2026). Problema de pesquisa a ser validado em campo.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HealthFlow</a:t>
            </a:r>
            <a:endParaRPr lang="en-US" sz="2800" dirty="0"/>
          </a:p>
        </p:txBody>
      </p:sp>
      <p:sp>
        <p:nvSpPr>
          <p:cNvPr id="3" name="Faixa do objetivo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960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Objetivo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Desenvolver um protótipo web para apoiar a gestão de filas e comunicar o andamento do atendimento.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B637A"/>
                </a:solidFill>
                <a:latin typeface="Calibri"/>
              </a:rPr>
              <a:t>Plataforma web para a clínica, com painel administrativo, gestão de consultas e visão do paciente em evolução.</a:t>
            </a:r>
            <a:endParaRPr lang="en-US" sz="1300" dirty="0"/>
          </a:p>
        </p:txBody>
      </p:sp>
      <p:sp>
        <p:nvSpPr>
          <p:cNvPr id="6" name="Ícone Paciente círculo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Paciente" descr="Ícone Pac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8117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2697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9169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0A1F33"/>
                </a:solidFill>
                <a:latin typeface="Calibri"/>
              </a:rPr>
              <a:t>Acompanha posição na fila e status do atendimento.</a:t>
            </a:r>
            <a:endParaRPr lang="en-US" sz="1200" dirty="0"/>
          </a:p>
        </p:txBody>
      </p:sp>
      <p:sp>
        <p:nvSpPr>
          <p:cNvPr id="10" name="Ícone Recepção círculo"/>
          <p:cNvSpPr/>
          <p:nvPr/>
        </p:nvSpPr>
        <p:spPr>
          <a:xfrm>
            <a:off x="457200" y="32644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cone Recepção" descr="Ícone Recep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37870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51560" y="32644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" y="3483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0A1F33"/>
                </a:solidFill>
                <a:latin typeface="Calibri"/>
              </a:rPr>
              <a:t>Centraliza check-in e atualização de status.</a:t>
            </a:r>
            <a:endParaRPr lang="en-US" sz="1200" dirty="0"/>
          </a:p>
        </p:txBody>
      </p:sp>
      <p:sp>
        <p:nvSpPr>
          <p:cNvPr id="14" name="Ícone Gestão círculo"/>
          <p:cNvSpPr/>
          <p:nvPr/>
        </p:nvSpPr>
        <p:spPr>
          <a:xfrm>
            <a:off x="457200" y="38313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Ícone Gestão" descr="Ícone Gest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45636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51560" y="38313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051560" y="4050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0A1F33"/>
                </a:solidFill>
                <a:latin typeface="Calibri"/>
              </a:rPr>
              <a:t>Visualiza consultas e profissionais para apoiar a operação.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937760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A1F33"/>
                </a:solidFill>
                <a:latin typeface="Calibri"/>
              </a:rPr>
              <a:t>Figura 1 – Página inicial da plataforma (protótipo funcional)</a:t>
            </a:r>
            <a:endParaRPr lang="en-US" sz="1000" dirty="0"/>
          </a:p>
        </p:txBody>
      </p:sp>
      <p:sp>
        <p:nvSpPr>
          <p:cNvPr id="19" name="Moldura figura 1"/>
          <p:cNvSpPr/>
          <p:nvPr/>
        </p:nvSpPr>
        <p:spPr>
          <a:xfrm>
            <a:off x="4937760" y="2194560"/>
            <a:ext cx="3749040" cy="19385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20" name="Figura 1" descr="Página inicial da plataforma HealthFl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221992"/>
            <a:ext cx="3694176" cy="18836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4B637A"/>
                </a:solidFill>
                <a:latin typeface="Calibri"/>
              </a:rPr>
              <a:t>Fonte: elaboração dos autores (2026). Funcionalidades demonstradas no protótipo; impactos serão avaliados em piloto.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0A1F33"/>
                </a:solidFill>
                <a:latin typeface="Calibri"/>
              </a:rPr>
              <a:t>Funcionalidades implementadas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A1F33"/>
                </a:solidFill>
                <a:latin typeface="Calibri"/>
              </a:rPr>
              <a:t>Figura 2 – Dashboard: visão de consultas, fila e alertas (dados demonstrativos)</a:t>
            </a:r>
            <a:endParaRPr lang="en-US" sz="1000" dirty="0"/>
          </a:p>
        </p:txBody>
      </p:sp>
      <p:sp>
        <p:nvSpPr>
          <p:cNvPr id="4" name="Moldura figura 2"/>
          <p:cNvSpPr/>
          <p:nvPr/>
        </p:nvSpPr>
        <p:spPr>
          <a:xfrm>
            <a:off x="457200" y="1261872"/>
            <a:ext cx="5029200" cy="259689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5" name="Figura 2" descr="Dashboard do Health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89304"/>
            <a:ext cx="4974336" cy="2542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987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A1F33"/>
                </a:solidFill>
                <a:latin typeface="Calibri"/>
              </a:rPr>
              <a:t>Figura 3 – Gestão de consultas e status</a:t>
            </a:r>
            <a:endParaRPr lang="en-US" sz="1000" dirty="0"/>
          </a:p>
        </p:txBody>
      </p:sp>
      <p:pic>
        <p:nvPicPr>
          <p:cNvPr id="7" name="Figura 3" descr="Tela de consultas e statu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261872"/>
            <a:ext cx="2743200" cy="1417320"/>
          </a:xfrm>
          <a:prstGeom prst="rect">
            <a:avLst/>
          </a:prstGeom>
        </p:spPr>
      </p:pic>
      <p:sp>
        <p:nvSpPr>
          <p:cNvPr id="8" name="Moldura figura 3"/>
          <p:cNvSpPr/>
          <p:nvPr/>
        </p:nvSpPr>
        <p:spPr>
          <a:xfrm>
            <a:off x="5943600" y="1261872"/>
            <a:ext cx="2743200" cy="141732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A1F33"/>
                </a:solidFill>
                <a:latin typeface="Calibri"/>
              </a:rPr>
              <a:t>Figura 4 – Gestão de profissionais</a:t>
            </a:r>
            <a:endParaRPr lang="en-US" sz="1000" dirty="0"/>
          </a:p>
        </p:txBody>
      </p:sp>
      <p:pic>
        <p:nvPicPr>
          <p:cNvPr id="10" name="Figura 4" descr="Tela de gestão de profissionai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3017520"/>
            <a:ext cx="2743200" cy="1417320"/>
          </a:xfrm>
          <a:prstGeom prst="rect">
            <a:avLst/>
          </a:prstGeom>
        </p:spPr>
      </p:pic>
      <p:sp>
        <p:nvSpPr>
          <p:cNvPr id="11" name="Moldura figura 4"/>
          <p:cNvSpPr/>
          <p:nvPr/>
        </p:nvSpPr>
        <p:spPr>
          <a:xfrm>
            <a:off x="5943600" y="3017520"/>
            <a:ext cx="2743200" cy="141732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2" name="Etapa 1"/>
          <p:cNvSpPr/>
          <p:nvPr/>
        </p:nvSpPr>
        <p:spPr>
          <a:xfrm>
            <a:off x="457200" y="3986784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02920" y="39867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33"/>
                </a:solidFill>
                <a:latin typeface="Calibri"/>
              </a:rPr>
              <a:t>Recepção registra o check-in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965960" y="398678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Etapa 2"/>
          <p:cNvSpPr/>
          <p:nvPr/>
        </p:nvSpPr>
        <p:spPr>
          <a:xfrm>
            <a:off x="2194560" y="3986784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240280" y="39867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33"/>
                </a:solidFill>
                <a:latin typeface="Calibri"/>
              </a:rPr>
              <a:t>Equipe atualiza o status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3703320" y="398678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Etapa 3"/>
          <p:cNvSpPr/>
          <p:nvPr/>
        </p:nvSpPr>
        <p:spPr>
          <a:xfrm>
            <a:off x="3931920" y="3986784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977640" y="39867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33"/>
                </a:solidFill>
                <a:latin typeface="Calibri"/>
              </a:rPr>
              <a:t>Painel reflete o fluxo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4B637A"/>
                </a:solidFill>
                <a:latin typeface="Calibri"/>
              </a:rPr>
              <a:t>Fonte: elaboração dos autores (2026). Protótipo em desenvolvimento com dados de demonstração.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A1F33"/>
                </a:solidFill>
                <a:latin typeface="Calibri"/>
              </a:rPr>
              <a:t>Figura 5 – Arquitetura do protótipo e evolução prevista</a:t>
            </a:r>
            <a:endParaRPr lang="en-US" sz="1000" dirty="0"/>
          </a:p>
        </p:txBody>
      </p:sp>
      <p:sp>
        <p:nvSpPr>
          <p:cNvPr id="4" name="Camada paciente"/>
          <p:cNvSpPr/>
          <p:nvPr/>
        </p:nvSpPr>
        <p:spPr>
          <a:xfrm>
            <a:off x="457200" y="1280160"/>
            <a:ext cx="242316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33"/>
                </a:solidFill>
                <a:latin typeface="Calibri"/>
              </a:rPr>
              <a:t>Visão do paciente</a:t>
            </a:r>
            <a:endParaRPr lang="en-US" sz="12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1F33"/>
                </a:solidFill>
                <a:latin typeface="Calibri"/>
              </a:rPr>
              <a:t>web/mobile · em evolução</a:t>
            </a:r>
          </a:p>
        </p:txBody>
      </p:sp>
      <p:pic>
        <p:nvPicPr>
          <p:cNvPr id="6" name="Camada paciente react" descr="Logo re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29184" cy="329184"/>
          </a:xfrm>
          <a:prstGeom prst="rect">
            <a:avLst/>
          </a:prstGeom>
        </p:spPr>
      </p:pic>
      <p:sp>
        <p:nvSpPr>
          <p:cNvPr id="7" name="Camada recepção"/>
          <p:cNvSpPr/>
          <p:nvPr/>
        </p:nvSpPr>
        <p:spPr>
          <a:xfrm>
            <a:off x="3063240" y="1280160"/>
            <a:ext cx="242316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63240" y="1280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33"/>
                </a:solidFill>
                <a:latin typeface="Calibri"/>
              </a:rPr>
              <a:t>Painel da clínica</a:t>
            </a:r>
            <a:endParaRPr lang="en-US" sz="12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1F33"/>
                </a:solidFill>
                <a:latin typeface="Calibri"/>
              </a:rPr>
              <a:t>React/Vite · administração</a:t>
            </a:r>
          </a:p>
        </p:txBody>
      </p:sp>
      <p:pic>
        <p:nvPicPr>
          <p:cNvPr id="9" name="Camada recepção react" descr="Logo rea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89888"/>
            <a:ext cx="329184" cy="329184"/>
          </a:xfrm>
          <a:prstGeom prst="rect">
            <a:avLst/>
          </a:prstGeom>
        </p:spPr>
      </p:pic>
      <p:sp>
        <p:nvSpPr>
          <p:cNvPr id="10" name="Seta"/>
          <p:cNvSpPr/>
          <p:nvPr/>
        </p:nvSpPr>
        <p:spPr>
          <a:xfrm>
            <a:off x="1668780" y="18288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eta"/>
          <p:cNvSpPr/>
          <p:nvPr/>
        </p:nvSpPr>
        <p:spPr>
          <a:xfrm>
            <a:off x="4274820" y="18288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mada Cloudflare"/>
          <p:cNvSpPr/>
          <p:nvPr/>
        </p:nvSpPr>
        <p:spPr>
          <a:xfrm>
            <a:off x="457200" y="2057400"/>
            <a:ext cx="5029200" cy="502920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Camada de borda</a:t>
            </a:r>
            <a:endParaRPr lang="en-US" sz="12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TLS, WAF e proteção DDoS · planejados</a:t>
            </a:r>
          </a:p>
        </p:txBody>
      </p:sp>
      <p:sp>
        <p:nvSpPr>
          <p:cNvPr id="15" name="Seta"/>
          <p:cNvSpPr/>
          <p:nvPr/>
        </p:nvSpPr>
        <p:spPr>
          <a:xfrm>
            <a:off x="2971800" y="256032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Camada API"/>
          <p:cNvSpPr/>
          <p:nvPr/>
        </p:nvSpPr>
        <p:spPr>
          <a:xfrm>
            <a:off x="914400" y="2788920"/>
            <a:ext cx="4114800" cy="594360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14400" y="2788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33"/>
                </a:solidFill>
                <a:latin typeface="Calibri"/>
              </a:rPr>
              <a:t>API RESTful</a:t>
            </a:r>
            <a:endParaRPr lang="en-US" sz="12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1F33"/>
                </a:solidFill>
                <a:latin typeface="Calibri"/>
              </a:rPr>
              <a:t>Express + TypeScript · monólito modular</a:t>
            </a:r>
          </a:p>
        </p:txBody>
      </p:sp>
      <p:pic>
        <p:nvPicPr>
          <p:cNvPr id="18" name="Camada API node" descr="Logo n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921508"/>
            <a:ext cx="329184" cy="329184"/>
          </a:xfrm>
          <a:prstGeom prst="rect">
            <a:avLst/>
          </a:prstGeom>
        </p:spPr>
      </p:pic>
      <p:sp>
        <p:nvSpPr>
          <p:cNvPr id="20" name="Seta"/>
          <p:cNvSpPr/>
          <p:nvPr/>
        </p:nvSpPr>
        <p:spPr>
          <a:xfrm>
            <a:off x="1828800" y="338328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eta"/>
          <p:cNvSpPr/>
          <p:nvPr/>
        </p:nvSpPr>
        <p:spPr>
          <a:xfrm>
            <a:off x="4114800" y="338328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Banco de dados"/>
          <p:cNvSpPr/>
          <p:nvPr/>
        </p:nvSpPr>
        <p:spPr>
          <a:xfrm>
            <a:off x="457200" y="3611880"/>
            <a:ext cx="242316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57200" y="3611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33"/>
                </a:solidFill>
                <a:latin typeface="Calibri"/>
              </a:rPr>
              <a:t>Banco de dados</a:t>
            </a:r>
            <a:endParaRPr lang="en-US" sz="12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1F33"/>
                </a:solidFill>
                <a:latin typeface="Calibri"/>
              </a:rPr>
              <a:t>PostgreSQL · contexto por tenant · RLS a validar</a:t>
            </a:r>
          </a:p>
        </p:txBody>
      </p:sp>
      <p:pic>
        <p:nvPicPr>
          <p:cNvPr id="24" name="Banco de dados pg" descr="Logo 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721608"/>
            <a:ext cx="329184" cy="329184"/>
          </a:xfrm>
          <a:prstGeom prst="rect">
            <a:avLst/>
          </a:prstGeom>
        </p:spPr>
      </p:pic>
      <p:sp>
        <p:nvSpPr>
          <p:cNvPr id="25" name="Redis"/>
          <p:cNvSpPr/>
          <p:nvPr/>
        </p:nvSpPr>
        <p:spPr>
          <a:xfrm>
            <a:off x="3063240" y="3611880"/>
            <a:ext cx="242316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3063240" y="3611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A1F33"/>
                </a:solidFill>
                <a:latin typeface="Calibri"/>
              </a:rPr>
              <a:t>Controles de API</a:t>
            </a:r>
            <a:endParaRPr lang="en-US" sz="12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1F33"/>
                </a:solidFill>
                <a:latin typeface="Calibri"/>
              </a:rPr>
              <a:t>Helmet, CORS e rate limit</a:t>
            </a:r>
          </a:p>
        </p:txBody>
      </p:sp>
      <p:sp>
        <p:nvSpPr>
          <p:cNvPr id="28" name="Painel decisões"/>
          <p:cNvSpPr/>
          <p:nvPr/>
        </p:nvSpPr>
        <p:spPr>
          <a:xfrm>
            <a:off x="5760720" y="987552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9" name="Text 20"/>
          <p:cNvSpPr txBox="1"/>
          <p:nvPr/>
        </p:nvSpPr>
        <p:spPr>
          <a:xfrm>
            <a:off x="594360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projeto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5943600" y="141732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100" b="0" i="0">
                <a:solidFill>
                  <a:srgbClr val="0A1F33"/>
                </a:solidFill>
                <a:latin typeface="Calibri"/>
              </a:rPr>
              <a:t>Monólito modular para reduzir complexidade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A1F33"/>
                </a:solidFill>
                <a:latin typeface="Calibri"/>
              </a:rPr>
              <a:t>Escalabilidade progressiva conforme o uso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A1F33"/>
                </a:solidFill>
                <a:latin typeface="Calibri"/>
              </a:rPr>
              <a:t>Segurança aplicada desde a API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A1F33"/>
                </a:solidFill>
                <a:latin typeface="Calibri"/>
              </a:rPr>
              <a:t>Infraestrutura de produção sob validação</a:t>
            </a:r>
          </a:p>
        </p:txBody>
      </p:sp>
      <p:sp>
        <p:nvSpPr>
          <p:cNvPr id="31" name="Text 22"/>
          <p:cNvSpPr txBox="1"/>
          <p:nvPr/>
        </p:nvSpPr>
        <p:spPr>
          <a:xfrm>
            <a:off x="5943600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42" name="Text 23"/>
          <p:cNvSpPr txBox="1"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4B637A"/>
                </a:solidFill>
                <a:latin typeface="Calibri"/>
              </a:rPr>
              <a:t>Fonte: elaboração dos autores (2026). Serviços externos e infraestrutura de produção ainda não foram contratados.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43" name="Texto revisado"/>
          <p:cNvSpPr txBox="1"/>
          <p:nvPr/>
        </p:nvSpPr>
        <p:spPr>
          <a:xfrm>
            <a:off x="5925312" y="3310128"/>
            <a:ext cx="2697480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A1F33"/>
                </a:solidFill>
                <a:latin typeface="Calibri"/>
              </a:rPr>
              <a:t>Node.js · TypeScript · Express</a:t>
            </a:r>
          </a:p>
          <a:p>
            <a:pPr algn="l">
              <a:spcAft>
                <a:spcPts val="0"/>
              </a:spcAft>
            </a:pPr>
            <a:r>
              <a:rPr sz="1050" b="1">
                <a:solidFill>
                  <a:srgbClr val="0A1F33"/>
                </a:solidFill>
                <a:latin typeface="Calibri"/>
              </a:rPr>
              <a:t>React · Vite · Tailwind CSS</a:t>
            </a:r>
          </a:p>
          <a:p>
            <a:pPr algn="l">
              <a:spcAft>
                <a:spcPts val="0"/>
              </a:spcAft>
            </a:pPr>
            <a:r>
              <a:rPr sz="1050" b="1">
                <a:solidFill>
                  <a:srgbClr val="0A1F33"/>
                </a:solidFill>
                <a:latin typeface="Calibri"/>
              </a:rPr>
              <a:t>PostgreSQL · Jest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saúde e segurança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A1F33"/>
                </a:solidFill>
                <a:latin typeface="Calibri"/>
              </a:rPr>
              <a:t>Quadro 1 – Contexto de tenant na transação</a:t>
            </a:r>
            <a:endParaRPr lang="en-US" sz="1000" dirty="0"/>
          </a:p>
        </p:txBody>
      </p:sp>
      <p:sp>
        <p:nvSpPr>
          <p:cNvPr id="4" name="Bloco de código"/>
          <p:cNvSpPr/>
          <p:nvPr/>
        </p:nvSpPr>
        <p:spPr>
          <a:xfrm>
            <a:off x="457200" y="1261872"/>
            <a:ext cx="3931920" cy="1965960"/>
          </a:xfrm>
          <a:prstGeom prst="roundRect">
            <a:avLst>
              <a:gd name="adj" fmla="val 37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FFFFF"/>
                </a:solidFill>
                <a:latin typeface="Calibri"/>
              </a:rPr>
              <a:t>SELECT set_config(</a:t>
            </a:r>
            <a:endParaRPr lang="en-US" sz="11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'app.tenant_id', $1,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-- contexto do tenant na transação</a:t>
            </a:r>
          </a:p>
        </p:txBody>
      </p:sp>
      <p:pic>
        <p:nvPicPr>
          <p:cNvPr id="6" name="Código pgW" descr="Logo pg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3898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3832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1200" b="0" i="0">
                <a:solidFill>
                  <a:srgbClr val="0A1F33"/>
                </a:solidFill>
                <a:latin typeface="Calibri"/>
              </a:rPr>
              <a:t>O tenant vem do JWT e é associado à transação. Políticas RLS e testes com PostgreSQL isolado continuam pendentes.</a:t>
            </a:r>
            <a:endParaRPr lang="en-US" sz="1300" dirty="0"/>
          </a:p>
        </p:txBody>
      </p:sp>
      <p:sp>
        <p:nvSpPr>
          <p:cNvPr id="8" name="Cartão Proteção de dados e LGPD"/>
          <p:cNvSpPr/>
          <p:nvPr/>
        </p:nvSpPr>
        <p:spPr>
          <a:xfrm>
            <a:off x="4663440" y="987552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Ícone Proteção de dados e LGPD círculo"/>
          <p:cNvSpPr/>
          <p:nvPr/>
        </p:nvSpPr>
        <p:spPr>
          <a:xfrm>
            <a:off x="4800600" y="1170432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Ícone Proteção de dados e LGPD" descr="Ícone Proteção de dados e LGP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2" y="1266444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051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e LGPD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349240" y="128016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0A1F33"/>
                </a:solidFill>
                <a:latin typeface="Calibri"/>
              </a:rPr>
              <a:t>JWT, headers de segurança e tratamento mínimo de dados. Avaliação jurídica de LGPD é futura.</a:t>
            </a:r>
            <a:endParaRPr lang="en-US" sz="1100" dirty="0"/>
          </a:p>
        </p:txBody>
      </p:sp>
      <p:sp>
        <p:nvSpPr>
          <p:cNvPr id="13" name="Cartão Limites de requisição"/>
          <p:cNvSpPr/>
          <p:nvPr/>
        </p:nvSpPr>
        <p:spPr>
          <a:xfrm>
            <a:off x="4663440" y="182880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Ícone Limites de requisição círculo"/>
          <p:cNvSpPr/>
          <p:nvPr/>
        </p:nvSpPr>
        <p:spPr>
          <a:xfrm>
            <a:off x="4800600" y="201168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Ícone Limites de requisição" descr="Ícone Limites de requisi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2107692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9240" y="189280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requisição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349240" y="212140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0A1F33"/>
                </a:solidFill>
                <a:latin typeface="Calibri"/>
              </a:rPr>
              <a:t>Limite de autenticação: até 10 tentativas a cada 15 minutos.</a:t>
            </a:r>
            <a:endParaRPr lang="en-US" sz="1100" dirty="0"/>
          </a:p>
        </p:txBody>
      </p:sp>
      <p:sp>
        <p:nvSpPr>
          <p:cNvPr id="18" name="Cartão Isolamento por tenant"/>
          <p:cNvSpPr/>
          <p:nvPr/>
        </p:nvSpPr>
        <p:spPr>
          <a:xfrm>
            <a:off x="4663440" y="2670048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Ícone Isolamento por tenant círculo"/>
          <p:cNvSpPr/>
          <p:nvPr/>
        </p:nvSpPr>
        <p:spPr>
          <a:xfrm>
            <a:off x="4800600" y="2852928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Ícone Isolamento por tenant" descr="Ícone Isolamento por tena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2948940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27340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por tenant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349240" y="296265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0A1F33"/>
                </a:solidFill>
                <a:latin typeface="Calibri"/>
              </a:rPr>
              <a:t>Tenant vem do JWT e define o contexto da transação; RLS segue pendente.</a:t>
            </a:r>
            <a:endParaRPr lang="en-US" sz="1100" dirty="0"/>
          </a:p>
        </p:txBody>
      </p:sp>
      <p:sp>
        <p:nvSpPr>
          <p:cNvPr id="23" name="Cartão Resiliência"/>
          <p:cNvSpPr/>
          <p:nvPr/>
        </p:nvSpPr>
        <p:spPr>
          <a:xfrm>
            <a:off x="4663440" y="3511296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4" name="Ícone Resiliência círculo"/>
          <p:cNvSpPr/>
          <p:nvPr/>
        </p:nvSpPr>
        <p:spPr>
          <a:xfrm>
            <a:off x="4800600" y="3694176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Ícone Resiliência" descr="Ícone Resiliênci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612" y="3790188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49240" y="357530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349240" y="380390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0A1F33"/>
                </a:solidFill>
                <a:latin typeface="Calibri"/>
              </a:rPr>
              <a:t>Migrations idempotentes. Backup e restauração requerem validação em PostgreSQL isolado.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4B637A"/>
                </a:solidFill>
                <a:latin typeface="Calibri"/>
              </a:rPr>
              <a:t>Fonte: elaboração dos autores (2026), com base no repositório validado. Testes end-to-end com PostgreSQL e RLS: pendentes.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limitações do projeto</a:t>
            </a:r>
            <a:endParaRPr lang="en-US" sz="2800" dirty="0"/>
          </a:p>
        </p:txBody>
      </p:sp>
      <p:sp>
        <p:nvSpPr>
          <p:cNvPr id="3" name="Etapa Ideação"/>
          <p:cNvSpPr/>
          <p:nvPr/>
        </p:nvSpPr>
        <p:spPr>
          <a:xfrm>
            <a:off x="457200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4" name="Ícone Ideação círculo"/>
          <p:cNvSpPr/>
          <p:nvPr/>
        </p:nvSpPr>
        <p:spPr>
          <a:xfrm>
            <a:off x="868680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Ícone Ideação" descr="Ícone Ide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22986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</a:t>
            </a:r>
            <a:endParaRPr lang="en-US" sz="1200" dirty="0"/>
          </a:p>
        </p:txBody>
      </p:sp>
      <p:sp>
        <p:nvSpPr>
          <p:cNvPr id="7" name="Status Ideação"/>
          <p:cNvSpPr/>
          <p:nvPr/>
        </p:nvSpPr>
        <p:spPr>
          <a:xfrm>
            <a:off x="548640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000" dirty="0"/>
          </a:p>
        </p:txBody>
      </p:sp>
      <p:sp>
        <p:nvSpPr>
          <p:cNvPr id="9" name="Etapa Desenvolvimento"/>
          <p:cNvSpPr/>
          <p:nvPr/>
        </p:nvSpPr>
        <p:spPr>
          <a:xfrm>
            <a:off x="1847088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Ícone Desenvolvimento círculo"/>
          <p:cNvSpPr/>
          <p:nvPr/>
        </p:nvSpPr>
        <p:spPr>
          <a:xfrm>
            <a:off x="2258568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Ícone Desenvolvimento" descr="Ícone Desenvolvi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68" y="122986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92808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13" name="Status Desenvolvimento"/>
          <p:cNvSpPr/>
          <p:nvPr/>
        </p:nvSpPr>
        <p:spPr>
          <a:xfrm>
            <a:off x="1938528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938528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A1F33"/>
                </a:solidFill>
                <a:latin typeface="Calibri"/>
              </a:rPr>
              <a:t>Funcional</a:t>
            </a:r>
            <a:endParaRPr lang="en-US" sz="1000" dirty="0"/>
          </a:p>
        </p:txBody>
      </p:sp>
      <p:sp>
        <p:nvSpPr>
          <p:cNvPr id="15" name="Etapa Testes técnicos"/>
          <p:cNvSpPr/>
          <p:nvPr/>
        </p:nvSpPr>
        <p:spPr>
          <a:xfrm>
            <a:off x="3236976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Ícone Testes técnicos círculo"/>
          <p:cNvSpPr/>
          <p:nvPr/>
        </p:nvSpPr>
        <p:spPr>
          <a:xfrm>
            <a:off x="3648456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Ícone Testes técnicos" descr="Ícone Testes técnic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56" y="122986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282696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técnicos</a:t>
            </a:r>
            <a:endParaRPr lang="en-US" sz="1200" dirty="0"/>
          </a:p>
        </p:txBody>
      </p:sp>
      <p:sp>
        <p:nvSpPr>
          <p:cNvPr id="19" name="Status Testes técnicos"/>
          <p:cNvSpPr/>
          <p:nvPr/>
        </p:nvSpPr>
        <p:spPr>
          <a:xfrm>
            <a:off x="3328416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328416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0A1F33"/>
                </a:solidFill>
                <a:latin typeface="Calibri"/>
              </a:rPr>
              <a:t>Jest: 16 OK</a:t>
            </a:r>
            <a:endParaRPr lang="en-US" sz="1000" dirty="0"/>
          </a:p>
        </p:txBody>
      </p:sp>
      <p:sp>
        <p:nvSpPr>
          <p:cNvPr id="21" name="Etapa Validação com usuários"/>
          <p:cNvSpPr/>
          <p:nvPr/>
        </p:nvSpPr>
        <p:spPr>
          <a:xfrm>
            <a:off x="4626864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Ícone Validação com usuários círculo"/>
          <p:cNvSpPr/>
          <p:nvPr/>
        </p:nvSpPr>
        <p:spPr>
          <a:xfrm>
            <a:off x="5038344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Ícone Validação com usuários" descr="Ícone Validação com usuári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644" y="122986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672584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usuários</a:t>
            </a:r>
            <a:endParaRPr lang="en-US" sz="1200" dirty="0"/>
          </a:p>
        </p:txBody>
      </p:sp>
      <p:sp>
        <p:nvSpPr>
          <p:cNvPr id="25" name="Status Validação com usuários"/>
          <p:cNvSpPr/>
          <p:nvPr/>
        </p:nvSpPr>
        <p:spPr>
          <a:xfrm>
            <a:off x="4718304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718304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iniciada</a:t>
            </a:r>
            <a:endParaRPr lang="en-US" sz="1000" dirty="0"/>
          </a:p>
        </p:txBody>
      </p:sp>
      <p:sp>
        <p:nvSpPr>
          <p:cNvPr id="27" name="Etapa Produção"/>
          <p:cNvSpPr/>
          <p:nvPr/>
        </p:nvSpPr>
        <p:spPr>
          <a:xfrm>
            <a:off x="6016752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Ícone Produção círculo"/>
          <p:cNvSpPr/>
          <p:nvPr/>
        </p:nvSpPr>
        <p:spPr>
          <a:xfrm>
            <a:off x="6428232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Ícone Produção" descr="Ícone Produç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1229868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062472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31" name="Status Produção"/>
          <p:cNvSpPr/>
          <p:nvPr/>
        </p:nvSpPr>
        <p:spPr>
          <a:xfrm>
            <a:off x="6108192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108192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iniciada</a:t>
            </a:r>
            <a:endParaRPr lang="en-US" sz="1000" dirty="0"/>
          </a:p>
        </p:txBody>
      </p:sp>
      <p:sp>
        <p:nvSpPr>
          <p:cNvPr id="33" name="Etapa Comercialização"/>
          <p:cNvSpPr/>
          <p:nvPr/>
        </p:nvSpPr>
        <p:spPr>
          <a:xfrm>
            <a:off x="7406640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34" name="Ícone Comercialização círculo"/>
          <p:cNvSpPr/>
          <p:nvPr/>
        </p:nvSpPr>
        <p:spPr>
          <a:xfrm>
            <a:off x="7818120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5" name="Ícone Comercialização" descr="Ícone Comercializ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2420" y="1229868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452360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Comercialização</a:t>
            </a:r>
            <a:endParaRPr lang="en-US" sz="1200" dirty="0"/>
          </a:p>
        </p:txBody>
      </p:sp>
      <p:sp>
        <p:nvSpPr>
          <p:cNvPr id="37" name="Status Comercialização"/>
          <p:cNvSpPr/>
          <p:nvPr/>
        </p:nvSpPr>
        <p:spPr>
          <a:xfrm>
            <a:off x="7498080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49808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iniciada</a:t>
            </a:r>
            <a:endParaRPr lang="en-US" sz="1000" dirty="0"/>
          </a:p>
        </p:txBody>
      </p:sp>
      <p:sp>
        <p:nvSpPr>
          <p:cNvPr id="39" name="Painel Resultados alcançados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alcançados</a:t>
            </a:r>
            <a:endParaRPr lang="en-US" sz="1400" dirty="0"/>
          </a:p>
        </p:txBody>
      </p:sp>
      <p:sp>
        <p:nvSpPr>
          <p:cNvPr id="44" name="Text 33"/>
          <p:cNvSpPr txBox="1"/>
          <p:nvPr/>
        </p:nvSpPr>
        <p:spPr>
          <a:xfrm>
            <a:off x="640080" y="327355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200" b="0" i="0">
                <a:solidFill>
                  <a:srgbClr val="0A1F33"/>
                </a:solidFill>
                <a:latin typeface="Calibri"/>
              </a:rPr>
              <a:t>Rotas protegidas e fluxo de autenticação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A1F33"/>
                </a:solidFill>
                <a:latin typeface="Calibri"/>
              </a:rPr>
              <a:t>Painel administrativo para consultas e profissionais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A1F33"/>
                </a:solidFill>
                <a:latin typeface="Calibri"/>
              </a:rPr>
              <a:t>Backend validado: build e 16 testes Jest aprovados</a:t>
            </a:r>
          </a:p>
        </p:txBody>
      </p:sp>
      <p:sp>
        <p:nvSpPr>
          <p:cNvPr id="45" name="Painel Limitações atuais"/>
          <p:cNvSpPr/>
          <p:nvPr/>
        </p:nvSpPr>
        <p:spPr>
          <a:xfrm>
            <a:off x="466344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atuais</a:t>
            </a:r>
            <a:endParaRPr lang="en-US" sz="1400" dirty="0"/>
          </a:p>
        </p:txBody>
      </p:sp>
      <p:sp>
        <p:nvSpPr>
          <p:cNvPr id="47" name="Text 36"/>
          <p:cNvSpPr txBox="1"/>
          <p:nvPr/>
        </p:nvSpPr>
        <p:spPr>
          <a:xfrm>
            <a:off x="4846320" y="327355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200" b="0" i="0">
                <a:solidFill>
                  <a:srgbClr val="0A1F33"/>
                </a:solidFill>
                <a:latin typeface="Calibri"/>
              </a:rPr>
              <a:t>Visão do paciente em tempo real: em evolução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A1F33"/>
                </a:solidFill>
                <a:latin typeface="Calibri"/>
              </a:rPr>
              <a:t>Integração com PostgreSQL isolado, carga, RLS e LGPD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A1F33"/>
                </a:solidFill>
                <a:latin typeface="Calibri"/>
              </a:rPr>
              <a:t>Validação com usuários, modelo comercial e integrações clínicas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48" name="Texto revisado"/>
          <p:cNvSpPr txBox="1"/>
          <p:nvPr/>
        </p:nvSpPr>
        <p:spPr>
          <a:xfrm>
            <a:off x="3063240" y="2907792"/>
            <a:ext cx="114300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1BB5A0"/>
                </a:solidFill>
                <a:latin typeface="Calibri"/>
              </a:rPr>
              <a:t>EXPRESS · JEST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validação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1150" b="0" i="0">
                <a:solidFill>
                  <a:srgbClr val="0A1F33"/>
                </a:solidFill>
                <a:latin typeface="Calibri"/>
              </a:rPr>
              <a:t>Validação local do repositório: testes automatizados e builds concluídos. Integração real com PostgreSQL: pendente.</a:t>
            </a:r>
            <a:endParaRPr lang="en-US" sz="1200" dirty="0"/>
          </a:p>
        </p:txBody>
      </p:sp>
      <p:sp>
        <p:nvSpPr>
          <p:cNvPr id="4" name="Meta técnica 1"/>
          <p:cNvSpPr/>
          <p:nvPr/>
        </p:nvSpPr>
        <p:spPr>
          <a:xfrm>
            <a:off x="457200" y="1280160"/>
            <a:ext cx="153619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3716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0A1F33"/>
                </a:solidFill>
                <a:latin typeface="Calibri"/>
              </a:rPr>
              <a:t>16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A1F33"/>
                </a:solidFill>
                <a:latin typeface="Calibri"/>
              </a:rPr>
              <a:t>testes automatizados aprovados (Jest)</a:t>
            </a:r>
            <a:endParaRPr lang="en-US" sz="1200" dirty="0"/>
          </a:p>
        </p:txBody>
      </p:sp>
      <p:sp>
        <p:nvSpPr>
          <p:cNvPr id="7" name="Meta técnica 2"/>
          <p:cNvSpPr/>
          <p:nvPr/>
        </p:nvSpPr>
        <p:spPr>
          <a:xfrm>
            <a:off x="2130552" y="1280160"/>
            <a:ext cx="153619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176272" y="13716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0A1F33"/>
                </a:solidFill>
                <a:latin typeface="Calibri"/>
              </a:rPr>
              <a:t>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9202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A1F33"/>
                </a:solidFill>
                <a:latin typeface="Calibri"/>
              </a:rPr>
              <a:t>falhas nos testes executados</a:t>
            </a:r>
            <a:endParaRPr lang="en-US" sz="1200" dirty="0"/>
          </a:p>
        </p:txBody>
      </p:sp>
      <p:sp>
        <p:nvSpPr>
          <p:cNvPr id="10" name="Meta técnica 3"/>
          <p:cNvSpPr/>
          <p:nvPr/>
        </p:nvSpPr>
        <p:spPr>
          <a:xfrm>
            <a:off x="3803904" y="1280160"/>
            <a:ext cx="153619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849624" y="13716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0A1F33"/>
                </a:solidFill>
                <a:latin typeface="Calibri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19202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A1F33"/>
                </a:solidFill>
                <a:latin typeface="Calibri"/>
              </a:rPr>
              <a:t>builds concluídos: backend e frontend</a:t>
            </a:r>
            <a:endParaRPr lang="en-US" sz="1200" dirty="0"/>
          </a:p>
        </p:txBody>
      </p:sp>
      <p:sp>
        <p:nvSpPr>
          <p:cNvPr id="13" name="Meta técnica 4"/>
          <p:cNvSpPr/>
          <p:nvPr/>
        </p:nvSpPr>
        <p:spPr>
          <a:xfrm>
            <a:off x="5477256" y="1280160"/>
            <a:ext cx="153619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522976" y="13716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0A1F33"/>
                </a:solidFill>
                <a:latin typeface="Calibri"/>
              </a:rPr>
              <a:t>DB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586984" y="19202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A1F33"/>
                </a:solidFill>
                <a:latin typeface="Calibri"/>
              </a:rPr>
              <a:t>integração PostgreSQL isolada pendente</a:t>
            </a:r>
            <a:endParaRPr lang="en-US" sz="1200" dirty="0"/>
          </a:p>
        </p:txBody>
      </p:sp>
      <p:sp>
        <p:nvSpPr>
          <p:cNvPr id="16" name="Meta técnica 5"/>
          <p:cNvSpPr/>
          <p:nvPr/>
        </p:nvSpPr>
        <p:spPr>
          <a:xfrm>
            <a:off x="7150608" y="1280160"/>
            <a:ext cx="153619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96328" y="13716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0A1F33"/>
                </a:solidFill>
                <a:latin typeface="Calibri"/>
              </a:rPr>
              <a:t>RLS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260336" y="19202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A1F33"/>
                </a:solidFill>
                <a:latin typeface="Calibri"/>
              </a:rPr>
              <a:t>políticas e testes no banco pendentes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1200" b="0" i="0">
                <a:solidFill>
                  <a:srgbClr val="0A1F33"/>
                </a:solidFill>
                <a:latin typeface="Calibri"/>
              </a:rPr>
              <a:t>Metas para um piloto de 30 dias — propostas; a calibrar com dados de campo</a:t>
            </a:r>
            <a:endParaRPr lang="en-US" sz="1200" dirty="0"/>
          </a:p>
        </p:txBody>
      </p:sp>
      <p:sp>
        <p:nvSpPr>
          <p:cNvPr id="20" name="Meta piloto 1"/>
          <p:cNvSpPr/>
          <p:nvPr/>
        </p:nvSpPr>
        <p:spPr>
          <a:xfrm>
            <a:off x="45720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redução da espera percebida</a:t>
            </a:r>
            <a:endParaRPr lang="en-US" sz="1200" dirty="0"/>
          </a:p>
        </p:txBody>
      </p:sp>
      <p:sp>
        <p:nvSpPr>
          <p:cNvPr id="23" name="Meta piloto 2"/>
          <p:cNvSpPr/>
          <p:nvPr/>
        </p:nvSpPr>
        <p:spPr>
          <a:xfrm>
            <a:off x="324612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redução das interrupções na recepção</a:t>
            </a:r>
            <a:endParaRPr lang="en-US" sz="1200" dirty="0"/>
          </a:p>
        </p:txBody>
      </p:sp>
      <p:sp>
        <p:nvSpPr>
          <p:cNvPr id="26" name="Meta piloto 3"/>
          <p:cNvSpPr/>
          <p:nvPr/>
        </p:nvSpPr>
        <p:spPr>
          <a:xfrm>
            <a:off x="603504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4,0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satisfação de pacientes e equipe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4B637A"/>
                </a:solidFill>
                <a:latin typeface="Calibri"/>
              </a:rPr>
              <a:t>Fonte: validação local da equipe (2026). Metas do piloto exigem linha de base e validação com clínica parceira.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0A1F33"/>
                </a:solidFill>
                <a:latin typeface="Calibri"/>
              </a:rPr>
              <a:t>Hipótese de modelo de negócio SaaS</a:t>
            </a:r>
            <a:endParaRPr lang="en-US" sz="2800" dirty="0"/>
          </a:p>
        </p:txBody>
      </p:sp>
      <p:sp>
        <p:nvSpPr>
          <p:cNvPr id="3" name="Plano Clínica pequena"/>
          <p:cNvSpPr/>
          <p:nvPr/>
        </p:nvSpPr>
        <p:spPr>
          <a:xfrm>
            <a:off x="457200" y="987552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1F33"/>
                </a:solidFill>
                <a:latin typeface="Calibri"/>
              </a:rPr>
              <a:t>Clínica de pequeno porte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A1F33"/>
                </a:solidFill>
                <a:latin typeface="Calibri"/>
              </a:rPr>
              <a:t>R$ 800–2.000/mês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A1F33"/>
                </a:solidFill>
                <a:latin typeface="Calibri"/>
              </a:rPr>
              <a:t>Até 5 profissionais · gestão de filas · painel</a:t>
            </a:r>
            <a:endParaRPr lang="en-US" sz="1200" dirty="0"/>
          </a:p>
        </p:txBody>
      </p:sp>
      <p:sp>
        <p:nvSpPr>
          <p:cNvPr id="7" name="Plano Clínica média"/>
          <p:cNvSpPr/>
          <p:nvPr/>
        </p:nvSpPr>
        <p:spPr>
          <a:xfrm>
            <a:off x="457200" y="2011680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1F33"/>
                </a:solidFill>
                <a:latin typeface="Calibri"/>
              </a:rPr>
              <a:t>Clínica de médio porte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214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A1F33"/>
                </a:solidFill>
                <a:latin typeface="Calibri"/>
              </a:rPr>
              <a:t>R$ 2.500–4.000/mês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688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A1F33"/>
                </a:solidFill>
                <a:latin typeface="Calibri"/>
              </a:rPr>
              <a:t>Até 20 profissionais · relatórios · integrações futuras</a:t>
            </a:r>
            <a:endParaRPr lang="en-US" sz="1200" dirty="0"/>
          </a:p>
        </p:txBody>
      </p:sp>
      <p:sp>
        <p:nvSpPr>
          <p:cNvPr id="11" name="Plano Clínica grande"/>
          <p:cNvSpPr/>
          <p:nvPr/>
        </p:nvSpPr>
        <p:spPr>
          <a:xfrm>
            <a:off x="457200" y="3035808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145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1F33"/>
                </a:solidFill>
                <a:latin typeface="Calibri"/>
              </a:rPr>
              <a:t>Clínica de grande porte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145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0A1F33"/>
                </a:solidFill>
                <a:latin typeface="Calibri"/>
              </a:rPr>
              <a:t>A partir de R$ 4.500/mês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A1F33"/>
                </a:solidFill>
                <a:latin typeface="Calibri"/>
              </a:rPr>
              <a:t>Oferta futura: multiunidades, SLA e suporte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A1F33"/>
                </a:solidFill>
                <a:latin typeface="Calibri"/>
              </a:rPr>
              <a:t>Piloto de 30 dias: hipótese sujeita à aprovação da clínica parceira.</a:t>
            </a:r>
            <a:endParaRPr lang="en-US" sz="1200" dirty="0"/>
          </a:p>
        </p:txBody>
      </p:sp>
      <p:sp>
        <p:nvSpPr>
          <p:cNvPr id="16" name="Indicador 1"/>
          <p:cNvSpPr/>
          <p:nvPr/>
        </p:nvSpPr>
        <p:spPr>
          <a:xfrm>
            <a:off x="5577840" y="987552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1060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R$ 1.500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1444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A1F33"/>
                </a:solidFill>
                <a:latin typeface="Calibri"/>
              </a:rPr>
              <a:t>custo operacional mensal: estimativa inicial</a:t>
            </a:r>
            <a:endParaRPr lang="en-US" sz="1100" dirty="0"/>
          </a:p>
        </p:txBody>
      </p:sp>
      <p:sp>
        <p:nvSpPr>
          <p:cNvPr id="19" name="Indicador 2"/>
          <p:cNvSpPr/>
          <p:nvPr/>
        </p:nvSpPr>
        <p:spPr>
          <a:xfrm>
            <a:off x="5577840" y="201168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clientes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2468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A1F33"/>
                </a:solidFill>
                <a:latin typeface="Calibri"/>
              </a:rPr>
              <a:t>cenário de equilíbrio com ticket estimado de R$ 1.400</a:t>
            </a:r>
            <a:endParaRPr lang="en-US" sz="1100" dirty="0"/>
          </a:p>
        </p:txBody>
      </p:sp>
      <p:sp>
        <p:nvSpPr>
          <p:cNvPr id="22" name="Indicador 3"/>
          <p:cNvSpPr/>
          <p:nvPr/>
        </p:nvSpPr>
        <p:spPr>
          <a:xfrm>
            <a:off x="5577840" y="3035808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clientes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A1F33"/>
                </a:solidFill>
                <a:latin typeface="Calibri"/>
              </a:rPr>
              <a:t>mercado obtível: hipótese local a validar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4B637A"/>
                </a:solidFill>
                <a:latin typeface="Calibri"/>
              </a:rPr>
              <a:t>Fonte: estimativas da equipe (2026). Preços e mercado não foram validados; custos não incluem mão de obra, impostos e suporte.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0A1F33"/>
                </a:solidFill>
                <a:latin typeface="Calibri"/>
              </a:rPr>
              <a:t>Próximas etapas</a:t>
            </a:r>
            <a:endParaRPr lang="en-US" sz="2800" dirty="0"/>
          </a:p>
        </p:txBody>
      </p:sp>
      <p:sp>
        <p:nvSpPr>
          <p:cNvPr id="3" name="Linha do tempo"/>
          <p:cNvSpPr/>
          <p:nvPr/>
        </p:nvSpPr>
        <p:spPr>
          <a:xfrm>
            <a:off x="1417320" y="1307592"/>
            <a:ext cx="63093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Marco 1"/>
          <p:cNvSpPr/>
          <p:nvPr/>
        </p:nvSpPr>
        <p:spPr>
          <a:xfrm>
            <a:off x="1143000" y="1033272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Fase 1"/>
          <p:cNvSpPr/>
          <p:nvPr/>
        </p:nvSpPr>
        <p:spPr>
          <a:xfrm>
            <a:off x="457200" y="17830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A1F33"/>
                </a:solidFill>
                <a:latin typeface="Calibri"/>
              </a:rPr>
              <a:t>Validação técnica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A1F33"/>
                </a:solidFill>
                <a:latin typeface="Calibri"/>
              </a:rPr>
              <a:t>Executar migrations e testes de integração em PostgreSQL isolado; validar RLS.</a:t>
            </a:r>
            <a:endParaRPr lang="en-US" sz="1300" dirty="0"/>
          </a:p>
        </p:txBody>
      </p:sp>
      <p:sp>
        <p:nvSpPr>
          <p:cNvPr id="9" name="Marco 2"/>
          <p:cNvSpPr/>
          <p:nvPr/>
        </p:nvSpPr>
        <p:spPr>
          <a:xfrm>
            <a:off x="3246120" y="1033272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Fase 2"/>
          <p:cNvSpPr/>
          <p:nvPr/>
        </p:nvSpPr>
        <p:spPr>
          <a:xfrm>
            <a:off x="2560320" y="17830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  <p:txBody>
          <a:bodyPr wrap="square">
            <a:norm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 10"/>
          <p:cNvSpPr txBox="1"/>
          <p:nvPr/>
        </p:nvSpPr>
        <p:spPr>
          <a:xfrm>
            <a:off x="269748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1F33"/>
                </a:solidFill>
                <a:latin typeface="Calibri"/>
              </a:rPr>
              <a:t>Privacidade e adequação jurídica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A1F33"/>
                </a:solidFill>
                <a:latin typeface="Calibri"/>
              </a:rPr>
              <a:t>Termos, política de privacidade, bases legais e definição de responsabilidades.</a:t>
            </a:r>
            <a:endParaRPr lang="en-US" sz="1300" dirty="0"/>
          </a:p>
        </p:txBody>
      </p:sp>
      <p:sp>
        <p:nvSpPr>
          <p:cNvPr id="14" name="Marco 3"/>
          <p:cNvSpPr/>
          <p:nvPr/>
        </p:nvSpPr>
        <p:spPr>
          <a:xfrm>
            <a:off x="5349240" y="1033272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Fase 3"/>
          <p:cNvSpPr/>
          <p:nvPr/>
        </p:nvSpPr>
        <p:spPr>
          <a:xfrm>
            <a:off x="4663440" y="17830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  <p:txBody>
          <a:bodyPr wrap="square">
            <a:norm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 15"/>
          <p:cNvSpPr txBox="1"/>
          <p:nvPr/>
        </p:nvSpPr>
        <p:spPr>
          <a:xfrm>
            <a:off x="480060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A1F33"/>
                </a:solidFill>
                <a:latin typeface="Calibri"/>
              </a:rPr>
              <a:t>Piloto com usuários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A1F33"/>
                </a:solidFill>
                <a:latin typeface="Calibri"/>
              </a:rPr>
              <a:t>Com requisitos técnicos e jurídicos atendidos, medir experiência e operação.</a:t>
            </a:r>
            <a:endParaRPr lang="en-US" sz="1300" dirty="0"/>
          </a:p>
        </p:txBody>
      </p:sp>
      <p:sp>
        <p:nvSpPr>
          <p:cNvPr id="19" name="Marco 4"/>
          <p:cNvSpPr/>
          <p:nvPr/>
        </p:nvSpPr>
        <p:spPr>
          <a:xfrm>
            <a:off x="7452360" y="1033272"/>
            <a:ext cx="548640" cy="5486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Fase 4"/>
          <p:cNvSpPr/>
          <p:nvPr/>
        </p:nvSpPr>
        <p:spPr>
          <a:xfrm>
            <a:off x="6766560" y="17830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  <p:txBody>
          <a:bodyPr wrap="square">
            <a:norm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 20"/>
          <p:cNvSpPr txBox="1"/>
          <p:nvPr/>
        </p:nvSpPr>
        <p:spPr>
          <a:xfrm>
            <a:off x="690372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A1F33"/>
                </a:solidFill>
                <a:latin typeface="Calibri"/>
              </a:rPr>
              <a:t>Avaliar viabilidade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A1F33"/>
                </a:solidFill>
                <a:latin typeface="Calibri"/>
              </a:rPr>
              <a:t>Usar evidências do piloto para orientar formalização e estratégia comercial.</a:t>
            </a:r>
            <a:endParaRPr lang="en-US" sz="1300" dirty="0"/>
          </a:p>
        </p:txBody>
      </p:sp>
      <p:sp>
        <p:nvSpPr>
          <p:cNvPr id="24" name="Destaque jurídico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1F33"/>
                </a:solidFill>
                <a:latin typeface="Calibri"/>
              </a:rPr>
              <a:t>Nenhum piloto com dados pessoais deve começar antes da definição de requisitos jurídicos, privacidade e segurança.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finais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“Software útil combina tecnologia, segurança e validação com pessoas.”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</a:t>
            </a:r>
            <a:endParaRPr lang="en-US" sz="1400" dirty="0"/>
          </a:p>
        </p:txBody>
      </p:sp>
      <p:sp>
        <p:nvSpPr>
          <p:cNvPr id="5" name="Cartão Simplicidade"/>
          <p:cNvSpPr/>
          <p:nvPr/>
        </p:nvSpPr>
        <p:spPr>
          <a:xfrm>
            <a:off x="457200" y="20574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6" name="Ícone Simplicidade círculo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Ícone Simplicidade" descr="Ícone Simplicid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297430"/>
            <a:ext cx="205740" cy="2057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C9D6E2"/>
                </a:solidFill>
                <a:latin typeface="Calibri"/>
              </a:rPr>
              <a:t>Arquitetura modular para evoluir sem complexidade prematura.</a:t>
            </a:r>
            <a:endParaRPr lang="en-US" sz="1200" dirty="0"/>
          </a:p>
        </p:txBody>
      </p:sp>
      <p:sp>
        <p:nvSpPr>
          <p:cNvPr id="10" name="Cartão Isolamento"/>
          <p:cNvSpPr/>
          <p:nvPr/>
        </p:nvSpPr>
        <p:spPr>
          <a:xfrm>
            <a:off x="3246120" y="20574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1" name="Ícone Isolamento círculo"/>
          <p:cNvSpPr/>
          <p:nvPr/>
        </p:nvSpPr>
        <p:spPr>
          <a:xfrm>
            <a:off x="3429000" y="21945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Ícone Isolamento" descr="Ícone Isola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870" y="2297430"/>
            <a:ext cx="205740" cy="2057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7764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C9D6E2"/>
                </a:solidFill>
                <a:latin typeface="Calibri"/>
              </a:rPr>
              <a:t>Tenant pelo JWT e contexto transacional; RLS precisa ser validado.</a:t>
            </a:r>
            <a:endParaRPr lang="en-US" sz="1200" dirty="0"/>
          </a:p>
        </p:txBody>
      </p:sp>
      <p:sp>
        <p:nvSpPr>
          <p:cNvPr id="15" name="Cartão Viabilidade"/>
          <p:cNvSpPr/>
          <p:nvPr/>
        </p:nvSpPr>
        <p:spPr>
          <a:xfrm>
            <a:off x="6035040" y="20574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6" name="Ícone Viabilidade círculo"/>
          <p:cNvSpPr/>
          <p:nvPr/>
        </p:nvSpPr>
        <p:spPr>
          <a:xfrm>
            <a:off x="6217920" y="21945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Ícone Viabilidade" descr="Ícone Viabilida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790" y="2297430"/>
            <a:ext cx="205740" cy="2057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6656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C9D6E2"/>
                </a:solidFill>
                <a:latin typeface="Calibri"/>
              </a:rPr>
              <a:t>Builds e testes aprovados; próxima etapa é validar com banco e usuários.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2400" b="1" i="0">
                <a:solidFill>
                  <a:srgbClr val="FFFFFF"/>
                </a:solidFill>
                <a:latin typeface="Calibri"/>
              </a:rPr>
              <a:t>Obrigado!  Perguntas da banca?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Flow">
  <a:themeElements>
    <a:clrScheme name="HealthFlow">
      <a:dk1>
        <a:srgbClr val="0A1F33"/>
      </a:dk1>
      <a:lt1>
        <a:srgbClr val="FFFFFF"/>
      </a:lt1>
      <a:dk2>
        <a:srgbClr val="5B6B7B"/>
      </a:dk2>
      <a:lt2>
        <a:srgbClr val="F7F9FB"/>
      </a:lt2>
      <a:accent1>
        <a:srgbClr val="0E7C6B"/>
      </a:accent1>
      <a:accent2>
        <a:srgbClr val="1BB5A0"/>
      </a:accent2>
      <a:accent3>
        <a:srgbClr val="B5E36B"/>
      </a:accent3>
      <a:accent4>
        <a:srgbClr val="E8A33D"/>
      </a:accent4>
      <a:accent5>
        <a:srgbClr val="DDE4EB"/>
      </a:accent5>
      <a:accent6>
        <a:srgbClr val="E3F6F3"/>
      </a:accent6>
      <a:hlink>
        <a:srgbClr val="0E7C6B"/>
      </a:hlink>
      <a:folHlink>
        <a:srgbClr val="5B6B7B"/>
      </a:folHlink>
    </a:clrScheme>
    <a:fontScheme name="HealthFlo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HealthFlow — Trabalho de Conclusão de Curso</dc:title>
  <dc:subject>Apresentação revisada do protótipo HealthFlow</dc:subject>
  <dc:creator>Equipe HealthFlow</dc:creator>
  <cp:lastModifiedBy>Equipe HealthFlow</cp:lastModifiedBy>
  <cp:revision>1</cp:revision>
  <dcterms:created xsi:type="dcterms:W3CDTF">2026-10-14T01:12:01Z</dcterms:created>
  <dcterms:modified xsi:type="dcterms:W3CDTF">2026-10-14T01:12:01Z</dcterms:modified>
  <dc:description>Revisão de conteúdo, narrativa e consistência técnica.</dc:description>
</cp:coreProperties>
</file>