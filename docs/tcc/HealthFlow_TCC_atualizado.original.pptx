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[0:00–0:20 | Apresentador 1] Cumprimentar a banca, apresentar os 5 integrantes e o orientador. Frase-chave: "O HealthFlow ajuda clínicas a mostrar ao paciente, em tempo real, quanto falta para ele ser atendido." Explicar que a apresentação tem 5 blocos, um por integrante, e que seremos transparentes sobre o que já existe e o que ainda falta.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[0:20–1:10 | Apresentador 1] Contar a cena: o paciente chega e não sabe quanto vai esperar; a recepcionista responde a mesma pergunta dezenas de vezes; o gestor não enxerga onde a fila trava. Deixar a pergunta "Quanto falta?" no ar por um instante. Reforçar honestamente que isso é uma hipótese de trabalho baseada em fontes secundárias, e que a pesquisa de campo (entrevistas com gestores e recepcionistas, questionário com pacientes) está no plano de validação.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[1:10–2:00 | Apresentador 1] Ler o objetivo em uma frase. Depois, um benefício por público, espelhando o problema: paciente (visibilidade), recepção (menos interrupção), gestão (dados; SaaS sem infraestrutura local). Explicar SaaS em uma frase: acesso pelo navegador. Avisar que são benefícios esperados, ainda não medidos; o piloto vai medir. Passar a palavra ao Apresentador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[2:00–3:40 | Apresentador 2] Se houver demonstração ao vivo, fazer aqui (login → dashboard → consultas). Caso contrário, narrar os prints: dashboard (12 consultas, 4 na fila, alerta de atraso), tela de consultas com status (Concluído, Em atendimento, Aguardando) e gestão de profissionais. Fluxo: check-in na recepção, médico muda o status, fila avança. Ser claro: a visão do paciente (acompanhar a fila pelo celular, sem recarregar a página) é o módulo em implementação agora. Lembrar que os dados exibidos são de demonstração.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[3:40–4:40 | Apresentador 3] Seguir o desenho de cima para baixo: paciente e recepção usam apps React; o tráfego passa pela Cloudflare (TLS, WAF, limite de requisições); a API é um monólito modular em Node/Fastify; PostgreSQL guarda os dados de todas as clínicas, com isolamento por tenant feito na API (RLS é o próximo passo); Redis cuida de rate limit e cache. Destacar o aprendizado: começamos modelando microsserviços e concluímos que, para uma equipe pequena, monólito modular com escala vertical faz mais sentido. Lembrar que a arquitetura de produção é uma especificação e que nenhum provedor foi contratado ainda.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[4:40–5:40 | Apresentador 3] Este é o desafio técnico central: dados de saúde exigem isolamento forte. Mostrar o trecho SQL: hoje o isolamento é feito na API, filtrando por tenant em toda consulta, com 10 testes HTTP; RLS no banco ainda não está implementado e é o próximo passo. Depois, os quatro mecanismos: LGPD (hash de CPF, exclusão lógica, consentimento), limites de requisição, isolamento por tenant e resiliência (backup e restauração testados com o volume do seed). Ser honesto: o teste de carga foi só de fumaça local, e a adequação jurídica à LGPD ainda não começou.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[5:40–6:40 | Apresentador 4] Mensagem principal: apresentar com clareza o que foi entregue e o que são limitações do trabalho. O HealthFlow não é apresentado como produto validado: o sistema funcional cobre back-end e painel administrativo; a visão do paciente está em implementação. Ainda não há validação com usuários, produção, clientes, contratos, receita ou empresa formal. Dizer isso de forma direta é intencional: o TCC entrega a base técnica e o plano para levar o projeto até um negócio.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[6:40–7:40 | Apresentador 4] Duas camadas de prova. Primeira: metas técnicas de aceite (latência P95 abaixo de 300 ms, erro 5xx abaixo de 0,1%, zero vazamento entre clínicas, restauração em menos de 30 min, disponibilidade acima de 99,9% nas primeiras 48 h). Já rodamos um teste de fumaça local (P95 de 8,5 ms, sem erros 5xx), mas o teste de carga completo ainda é necessário. Segunda: metas do piloto de 30 dias, com linha de base de 2 semanas antes: reduzir 20% a espera percebida, 30% das interrupções e atingir satisfação média de 4,0. São metas iniciais propostas pela equipe, sem base estatística, e serão calibradas.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[7:40–8:40 | Apresentador 5] Receita recorrente por assinatura, com preço por porte de clínica (não por profissional). Custo de operação estimado em R$ 1.500 por mês, dos quais R$ 530 são infraestrutura; com ticket de R$ 1.400, dois clientes cobrem o custo operacional. O mercado obtível em Candeias-BA é de cerca de 5 clientes. Deixar claro: são hipóteses, sem validação com clientes; custos de mão de obra, suporte e impostos ainda não entram na conta; os planos maiores são oferta futura.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[8:40–9:30 | Apresentador 5] Trabalhos futuros, em quatro fases em sequência: 1) go-live técnico; 2) adequação jurídica à LGPD; 3) piloto de 30 dias em clínicas de Candeias; 4) decisão sobre CNPJ e comercialização com base nos dados. Enfatizar por que o jurídico vem antes do piloto: dados de pacientes são dados pessoais sensíveis.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[9:30–10:00 | Apresentador 5] Fechar com o aprendizado central e resumir em uma frase por cartão: simplicidade (monólito modular), isolamento (por tenant, com RLS a seguir) e viabilidade (jurídica, financeira e adoção). Agradecer à banca, ao orientador, ao SENAI e ao SESI, e abrir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HealthFlow · TCC · SENAI Candeias – BA · 2026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AA9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HealthFlow · TCC · SENAI Candeias – BA · 2026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AA9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AA9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slideLayout" Target="../slideLayouts/slideLayout3.xml"/><Relationship Id="rId1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 decorativo 1"/>
          <p:cNvSpPr/>
          <p:nvPr/>
        </p:nvSpPr>
        <p:spPr>
          <a:xfrm>
            <a:off x="6035040" y="-1188720"/>
            <a:ext cx="4754880" cy="4754880"/>
          </a:xfrm>
          <a:prstGeom prst="ellipse">
            <a:avLst/>
          </a:prstGeom>
          <a:solidFill>
            <a:schemeClr val="tx1"/>
          </a:solidFill>
          <a:ln w="15875">
            <a:solidFill>
              <a:srgbClr val="1BB5A0">
                <a:alpha val="45000"/>
              </a:srgbClr>
            </a:solidFill>
            <a:prstDash val="solid"/>
          </a:ln>
        </p:spPr>
      </p:sp>
      <p:sp>
        <p:nvSpPr>
          <p:cNvPr id="3" name="Círculo decorativo 2"/>
          <p:cNvSpPr/>
          <p:nvPr/>
        </p:nvSpPr>
        <p:spPr>
          <a:xfrm>
            <a:off x="6858000" y="-365760"/>
            <a:ext cx="3108960" cy="3108960"/>
          </a:xfrm>
          <a:prstGeom prst="ellipse">
            <a:avLst/>
          </a:prstGeom>
          <a:solidFill>
            <a:schemeClr val="tx1"/>
          </a:solidFill>
          <a:ln w="15875">
            <a:solidFill>
              <a:srgbClr val="1BB5A0">
                <a:alpha val="60000"/>
              </a:srgbClr>
            </a:solidFill>
            <a:prstDash val="solid"/>
          </a:ln>
        </p:spPr>
      </p:sp>
      <p:sp>
        <p:nvSpPr>
          <p:cNvPr id="4" name="Ícone coração círculo"/>
          <p:cNvSpPr/>
          <p:nvPr/>
        </p:nvSpPr>
        <p:spPr>
          <a:xfrm>
            <a:off x="548640" y="54864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Ícone coração" descr="Ícone coraçã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70866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3258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HealthFlow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19456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Transformando a comunicação hospitalar através da tecnologia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017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de Conclusão de Curso  ·  SENAI Candeias – BA  ·  2026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703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9319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Isabella Almeida · Lucas Fortuna · Murilo de Jesus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 Eduarda Andrade · Alef Sena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852160" y="3703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ORIENTAÇÃO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5852160" y="39319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Adalberto Teixeira Santana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problema: a espera sem informação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CLÍNICAS DE PEQUENO E MÉDIO PORTE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falta?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688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que a fila manual não responde, e que se repete para todos os envolvidos.</a:t>
            </a:r>
            <a:endParaRPr lang="en-US" sz="1600" dirty="0"/>
          </a:p>
        </p:txBody>
      </p:sp>
      <p:sp>
        <p:nvSpPr>
          <p:cNvPr id="6" name="Cartão Paciente"/>
          <p:cNvSpPr/>
          <p:nvPr/>
        </p:nvSpPr>
        <p:spPr>
          <a:xfrm>
            <a:off x="4480560" y="1188720"/>
            <a:ext cx="4206240" cy="960120"/>
          </a:xfrm>
          <a:prstGeom prst="roundRect">
            <a:avLst>
              <a:gd name="adj" fmla="val 7619"/>
            </a:avLst>
          </a:prstGeom>
          <a:solidFill>
            <a:srgbClr val="14304D"/>
          </a:solidFill>
          <a:ln w="12700">
            <a:solidFill>
              <a:srgbClr val="14304D"/>
            </a:solidFill>
            <a:prstDash val="solid"/>
          </a:ln>
        </p:spPr>
      </p:sp>
      <p:sp>
        <p:nvSpPr>
          <p:cNvPr id="7" name="Ícone Paciente círculo"/>
          <p:cNvSpPr/>
          <p:nvPr/>
        </p:nvSpPr>
        <p:spPr>
          <a:xfrm>
            <a:off x="4663440" y="1399032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8" name="Ícone Paciente" descr="Ícone Pacien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1536192"/>
            <a:ext cx="274320" cy="274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394960" y="12801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394960" y="15544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 sem saber a posição na fila nem o tempo estimado: ansiedade e frustração.</a:t>
            </a:r>
            <a:endParaRPr lang="en-US" sz="1200" dirty="0"/>
          </a:p>
        </p:txBody>
      </p:sp>
      <p:sp>
        <p:nvSpPr>
          <p:cNvPr id="11" name="Cartão Recepção"/>
          <p:cNvSpPr/>
          <p:nvPr/>
        </p:nvSpPr>
        <p:spPr>
          <a:xfrm>
            <a:off x="4480560" y="2267712"/>
            <a:ext cx="4206240" cy="960120"/>
          </a:xfrm>
          <a:prstGeom prst="roundRect">
            <a:avLst>
              <a:gd name="adj" fmla="val 7619"/>
            </a:avLst>
          </a:prstGeom>
          <a:solidFill>
            <a:srgbClr val="14304D"/>
          </a:solidFill>
          <a:ln w="12700">
            <a:solidFill>
              <a:srgbClr val="14304D"/>
            </a:solidFill>
            <a:prstDash val="solid"/>
          </a:ln>
        </p:spPr>
      </p:sp>
      <p:sp>
        <p:nvSpPr>
          <p:cNvPr id="12" name="Ícone Recepção círculo"/>
          <p:cNvSpPr/>
          <p:nvPr/>
        </p:nvSpPr>
        <p:spPr>
          <a:xfrm>
            <a:off x="4663440" y="2478024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3" name="Ícone Recepção" descr="Ícone Recepçã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615184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94960" y="23591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Recepção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5394960" y="263347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em papel ou planilha: interrupções constantes, retrabalho e risco de erro.</a:t>
            </a:r>
            <a:endParaRPr lang="en-US" sz="1200" dirty="0"/>
          </a:p>
        </p:txBody>
      </p:sp>
      <p:sp>
        <p:nvSpPr>
          <p:cNvPr id="16" name="Cartão Gestão"/>
          <p:cNvSpPr/>
          <p:nvPr/>
        </p:nvSpPr>
        <p:spPr>
          <a:xfrm>
            <a:off x="4480560" y="3346704"/>
            <a:ext cx="4206240" cy="960120"/>
          </a:xfrm>
          <a:prstGeom prst="roundRect">
            <a:avLst>
              <a:gd name="adj" fmla="val 7619"/>
            </a:avLst>
          </a:prstGeom>
          <a:solidFill>
            <a:srgbClr val="14304D"/>
          </a:solidFill>
          <a:ln w="12700">
            <a:solidFill>
              <a:srgbClr val="14304D"/>
            </a:solidFill>
            <a:prstDash val="solid"/>
          </a:ln>
        </p:spPr>
      </p:sp>
      <p:sp>
        <p:nvSpPr>
          <p:cNvPr id="17" name="Ícone Gestão círculo"/>
          <p:cNvSpPr/>
          <p:nvPr/>
        </p:nvSpPr>
        <p:spPr>
          <a:xfrm>
            <a:off x="4663440" y="3557016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8" name="Ícone Gestão" descr="Ícone Gestã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694176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394960" y="343814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5394960" y="3712464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Gargalos invisíveis: a clínica decide sem dados e perde eficiência.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457200" y="44805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Elaborado pelos autores (2026), com base em fontes secundárias. Hipótese de trabalho; a validação de campo está prevista no plano.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AA9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solução: HealthFlow</a:t>
            </a:r>
            <a:endParaRPr lang="en-US" sz="2800" dirty="0"/>
          </a:p>
        </p:txBody>
      </p:sp>
      <p:sp>
        <p:nvSpPr>
          <p:cNvPr id="3" name="Faixa do objetivo"/>
          <p:cNvSpPr/>
          <p:nvPr/>
        </p:nvSpPr>
        <p:spPr>
          <a:xfrm>
            <a:off x="457200" y="960120"/>
            <a:ext cx="8229600" cy="777240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9601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Reduzir a incerteza do paciente e a sobrecarga da recepção com uma plataforma digital acessível e integrada de gestão de fluxo.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202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SaaS, 100% em nuvem: acesso pelo navegador, sem servidor na clínica. Atualiza equipe e paciente em tempo real.</a:t>
            </a:r>
            <a:endParaRPr lang="en-US" sz="1300" dirty="0"/>
          </a:p>
        </p:txBody>
      </p:sp>
      <p:sp>
        <p:nvSpPr>
          <p:cNvPr id="6" name="Ícone Paciente círculo"/>
          <p:cNvSpPr/>
          <p:nvPr/>
        </p:nvSpPr>
        <p:spPr>
          <a:xfrm>
            <a:off x="457200" y="26974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Ícone Paciente" descr="Ícone Pacien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2811780"/>
            <a:ext cx="228600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51560" y="269748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051560" y="291693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Vê a posição na fila e a espera estimada</a:t>
            </a:r>
            <a:endParaRPr lang="en-US" sz="1200" dirty="0"/>
          </a:p>
        </p:txBody>
      </p:sp>
      <p:sp>
        <p:nvSpPr>
          <p:cNvPr id="10" name="Ícone Recepção círculo"/>
          <p:cNvSpPr/>
          <p:nvPr/>
        </p:nvSpPr>
        <p:spPr>
          <a:xfrm>
            <a:off x="457200" y="326440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Ícone Recepção" descr="Ícone Recepçã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378708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051560" y="326440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Recepção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1051560" y="348386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centralizado, menos interrupções</a:t>
            </a:r>
            <a:endParaRPr lang="en-US" sz="1200" dirty="0"/>
          </a:p>
        </p:txBody>
      </p:sp>
      <p:sp>
        <p:nvSpPr>
          <p:cNvPr id="14" name="Ícone Gestão círculo"/>
          <p:cNvSpPr/>
          <p:nvPr/>
        </p:nvSpPr>
        <p:spPr>
          <a:xfrm>
            <a:off x="457200" y="383133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Ícone Gestão" descr="Ícone Gestã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945636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051560" y="383133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1051560" y="405079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e painel visual de gargalos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4937760" y="19202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1 – Página inicial da plataforma (protótipo funcional)</a:t>
            </a:r>
            <a:endParaRPr lang="en-US" sz="1000" dirty="0"/>
          </a:p>
        </p:txBody>
      </p:sp>
      <p:sp>
        <p:nvSpPr>
          <p:cNvPr id="19" name="Moldura figura 1"/>
          <p:cNvSpPr/>
          <p:nvPr/>
        </p:nvSpPr>
        <p:spPr>
          <a:xfrm>
            <a:off x="4937760" y="2194560"/>
            <a:ext cx="3749040" cy="19385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pic>
        <p:nvPicPr>
          <p:cNvPr id="20" name="Figura 1" descr="Página inicial da plataforma HealthFlow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2221992"/>
            <a:ext cx="3694176" cy="188366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457200" y="4434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Elaborado pelos autores (2026). Benefícios esperados, ainda não medidos em operação real.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AA9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hoje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8755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2 – Dashboard: consultas do dia, fila, tempo médio e alerta de atraso</a:t>
            </a:r>
            <a:endParaRPr lang="en-US" sz="1000" dirty="0"/>
          </a:p>
        </p:txBody>
      </p:sp>
      <p:sp>
        <p:nvSpPr>
          <p:cNvPr id="4" name="Moldura figura 2"/>
          <p:cNvSpPr/>
          <p:nvPr/>
        </p:nvSpPr>
        <p:spPr>
          <a:xfrm>
            <a:off x="457200" y="1261872"/>
            <a:ext cx="5029200" cy="2596896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pic>
        <p:nvPicPr>
          <p:cNvPr id="5" name="Figura 2" descr="Dashboard do HealthFlo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289304"/>
            <a:ext cx="4974336" cy="2542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0" y="987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3 – Consultas e status</a:t>
            </a:r>
            <a:endParaRPr lang="en-US" sz="1000" dirty="0"/>
          </a:p>
        </p:txBody>
      </p:sp>
      <p:pic>
        <p:nvPicPr>
          <p:cNvPr id="7" name="Figura 3" descr="Tela de consultas e status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43600" y="1261872"/>
            <a:ext cx="2743200" cy="1417320"/>
          </a:xfrm>
          <a:prstGeom prst="rect">
            <a:avLst/>
          </a:prstGeom>
        </p:spPr>
      </p:pic>
      <p:sp>
        <p:nvSpPr>
          <p:cNvPr id="8" name="Moldura figura 3"/>
          <p:cNvSpPr/>
          <p:nvPr/>
        </p:nvSpPr>
        <p:spPr>
          <a:xfrm>
            <a:off x="5943600" y="1261872"/>
            <a:ext cx="2743200" cy="1417320"/>
          </a:xfrm>
          <a:prstGeom prst="rect">
            <a:avLst/>
          </a:prstGeom>
          <a:ln w="9525">
            <a:solidFill>
              <a:schemeClr val="accent5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943600" y="27432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4 – Gestão de profissionais</a:t>
            </a:r>
            <a:endParaRPr lang="en-US" sz="1000" dirty="0"/>
          </a:p>
        </p:txBody>
      </p:sp>
      <p:pic>
        <p:nvPicPr>
          <p:cNvPr id="10" name="Figura 4" descr="Tela de gestão de profissionais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943600" y="3017520"/>
            <a:ext cx="2743200" cy="1417320"/>
          </a:xfrm>
          <a:prstGeom prst="rect">
            <a:avLst/>
          </a:prstGeom>
        </p:spPr>
      </p:pic>
      <p:sp>
        <p:nvSpPr>
          <p:cNvPr id="11" name="Moldura figura 4"/>
          <p:cNvSpPr/>
          <p:nvPr/>
        </p:nvSpPr>
        <p:spPr>
          <a:xfrm>
            <a:off x="5943600" y="3017520"/>
            <a:ext cx="2743200" cy="1417320"/>
          </a:xfrm>
          <a:prstGeom prst="rect">
            <a:avLst/>
          </a:prstGeom>
          <a:ln w="9525">
            <a:solidFill>
              <a:schemeClr val="accent5"/>
            </a:solidFill>
            <a:prstDash val="solid"/>
          </a:ln>
        </p:spPr>
      </p:sp>
      <p:sp>
        <p:nvSpPr>
          <p:cNvPr id="12" name="Etapa 1"/>
          <p:cNvSpPr/>
          <p:nvPr/>
        </p:nvSpPr>
        <p:spPr>
          <a:xfrm>
            <a:off x="457200" y="3986784"/>
            <a:ext cx="1508760" cy="457200"/>
          </a:xfrm>
          <a:prstGeom prst="roundRect">
            <a:avLst>
              <a:gd name="adj" fmla="val 16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02920" y="398678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Recepção registra o check-in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1965960" y="3986784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Etapa 2"/>
          <p:cNvSpPr/>
          <p:nvPr/>
        </p:nvSpPr>
        <p:spPr>
          <a:xfrm>
            <a:off x="2194560" y="3986784"/>
            <a:ext cx="1508760" cy="457200"/>
          </a:xfrm>
          <a:prstGeom prst="roundRect">
            <a:avLst>
              <a:gd name="adj" fmla="val 16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2240280" y="398678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 muda o status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3703320" y="3986784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Etapa 3"/>
          <p:cNvSpPr/>
          <p:nvPr/>
        </p:nvSpPr>
        <p:spPr>
          <a:xfrm>
            <a:off x="3931920" y="3986784"/>
            <a:ext cx="1508760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3977640" y="398678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fila avança sozinha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457200" y="44805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Elaborado pelos autores (2026). Protótipo em ambiente de desenvolvimento; dados de demonstração.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AA9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do sistema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875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5 – Arquitetura em camadas</a:t>
            </a:r>
            <a:endParaRPr lang="en-US" sz="1000" dirty="0"/>
          </a:p>
        </p:txBody>
      </p:sp>
      <p:sp>
        <p:nvSpPr>
          <p:cNvPr id="4" name="Camada paciente"/>
          <p:cNvSpPr/>
          <p:nvPr/>
        </p:nvSpPr>
        <p:spPr>
          <a:xfrm>
            <a:off x="457200" y="1280160"/>
            <a:ext cx="2423160" cy="54864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 (mobile)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· visualização</a:t>
            </a:r>
            <a:endParaRPr lang="en-US" sz="1200" dirty="0"/>
          </a:p>
        </p:txBody>
      </p:sp>
      <p:pic>
        <p:nvPicPr>
          <p:cNvPr id="6" name="Camada paciente react" descr="Logo reac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89888"/>
            <a:ext cx="329184" cy="329184"/>
          </a:xfrm>
          <a:prstGeom prst="rect">
            <a:avLst/>
          </a:prstGeom>
        </p:spPr>
      </p:pic>
      <p:sp>
        <p:nvSpPr>
          <p:cNvPr id="7" name="Camada recepção"/>
          <p:cNvSpPr/>
          <p:nvPr/>
        </p:nvSpPr>
        <p:spPr>
          <a:xfrm>
            <a:off x="3063240" y="1280160"/>
            <a:ext cx="2423160" cy="54864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063240" y="12801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Recepção (desktop)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· painel admin</a:t>
            </a:r>
            <a:endParaRPr lang="en-US" sz="1200" dirty="0"/>
          </a:p>
        </p:txBody>
      </p:sp>
      <p:pic>
        <p:nvPicPr>
          <p:cNvPr id="9" name="Camada recepção react" descr="Logo reac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389888"/>
            <a:ext cx="329184" cy="329184"/>
          </a:xfrm>
          <a:prstGeom prst="rect">
            <a:avLst/>
          </a:prstGeom>
        </p:spPr>
      </p:pic>
      <p:sp>
        <p:nvSpPr>
          <p:cNvPr id="10" name="Seta"/>
          <p:cNvSpPr/>
          <p:nvPr/>
        </p:nvSpPr>
        <p:spPr>
          <a:xfrm>
            <a:off x="1668780" y="1828800"/>
            <a:ext cx="0" cy="22860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1" name="Seta"/>
          <p:cNvSpPr/>
          <p:nvPr/>
        </p:nvSpPr>
        <p:spPr>
          <a:xfrm>
            <a:off x="4274820" y="1828800"/>
            <a:ext cx="0" cy="22860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2" name="Camada Cloudflare"/>
          <p:cNvSpPr/>
          <p:nvPr/>
        </p:nvSpPr>
        <p:spPr>
          <a:xfrm>
            <a:off x="457200" y="2057400"/>
            <a:ext cx="5029200" cy="502920"/>
          </a:xfrm>
          <a:prstGeom prst="rect">
            <a:avLst/>
          </a:prstGeom>
          <a:solidFill>
            <a:schemeClr val="tx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57200" y="20574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de borda: WAF / TLS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· HSTS · proteção DDoS</a:t>
            </a:r>
            <a:endParaRPr lang="en-US" sz="1200" dirty="0"/>
          </a:p>
        </p:txBody>
      </p:sp>
      <p:pic>
        <p:nvPicPr>
          <p:cNvPr id="14" name="Camada Cloudflare cf" descr="Logo cf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144268"/>
            <a:ext cx="329184" cy="329184"/>
          </a:xfrm>
          <a:prstGeom prst="rect">
            <a:avLst/>
          </a:prstGeom>
        </p:spPr>
      </p:pic>
      <p:sp>
        <p:nvSpPr>
          <p:cNvPr id="15" name="Seta"/>
          <p:cNvSpPr/>
          <p:nvPr/>
        </p:nvSpPr>
        <p:spPr>
          <a:xfrm>
            <a:off x="2971800" y="2560320"/>
            <a:ext cx="0" cy="22860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6" name="Camada API"/>
          <p:cNvSpPr/>
          <p:nvPr/>
        </p:nvSpPr>
        <p:spPr>
          <a:xfrm>
            <a:off x="914400" y="2788920"/>
            <a:ext cx="4114800" cy="594360"/>
          </a:xfrm>
          <a:prstGeom prst="rect">
            <a:avLst/>
          </a:prstGeom>
          <a:solidFill>
            <a:schemeClr val="accent6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914400" y="278892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RESTful (monólito modular)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</a:t>
            </a:r>
            <a:endParaRPr lang="en-US" sz="1200" dirty="0"/>
          </a:p>
        </p:txBody>
      </p:sp>
      <p:pic>
        <p:nvPicPr>
          <p:cNvPr id="18" name="Camada API node" descr="Logo nod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2921508"/>
            <a:ext cx="329184" cy="329184"/>
          </a:xfrm>
          <a:prstGeom prst="rect">
            <a:avLst/>
          </a:prstGeom>
        </p:spPr>
      </p:pic>
      <p:pic>
        <p:nvPicPr>
          <p:cNvPr id="19" name="Camada API fastify" descr="Logo fastif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5608" y="2921508"/>
            <a:ext cx="329184" cy="329184"/>
          </a:xfrm>
          <a:prstGeom prst="rect">
            <a:avLst/>
          </a:prstGeom>
        </p:spPr>
      </p:pic>
      <p:sp>
        <p:nvSpPr>
          <p:cNvPr id="20" name="Seta"/>
          <p:cNvSpPr/>
          <p:nvPr/>
        </p:nvSpPr>
        <p:spPr>
          <a:xfrm>
            <a:off x="1828800" y="3383280"/>
            <a:ext cx="0" cy="22860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1" name="Seta"/>
          <p:cNvSpPr/>
          <p:nvPr/>
        </p:nvSpPr>
        <p:spPr>
          <a:xfrm>
            <a:off x="4114800" y="3383280"/>
            <a:ext cx="0" cy="22860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2" name="Banco de dados"/>
          <p:cNvSpPr/>
          <p:nvPr/>
        </p:nvSpPr>
        <p:spPr>
          <a:xfrm>
            <a:off x="457200" y="3611880"/>
            <a:ext cx="2423160" cy="54864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457200" y="36118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· RLS planejado</a:t>
            </a:r>
            <a:endParaRPr lang="en-US" sz="1200" dirty="0"/>
          </a:p>
        </p:txBody>
      </p:sp>
      <p:pic>
        <p:nvPicPr>
          <p:cNvPr id="24" name="Banco de dados pg" descr="Logo 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721608"/>
            <a:ext cx="329184" cy="329184"/>
          </a:xfrm>
          <a:prstGeom prst="rect">
            <a:avLst/>
          </a:prstGeom>
        </p:spPr>
      </p:pic>
      <p:sp>
        <p:nvSpPr>
          <p:cNvPr id="25" name="Redis"/>
          <p:cNvSpPr/>
          <p:nvPr/>
        </p:nvSpPr>
        <p:spPr>
          <a:xfrm>
            <a:off x="3063240" y="3611880"/>
            <a:ext cx="2423160" cy="54864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26" name="Text 18"/>
          <p:cNvSpPr txBox="1"/>
          <p:nvPr/>
        </p:nvSpPr>
        <p:spPr>
          <a:xfrm>
            <a:off x="3063240" y="36118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e limites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· rate limit · cache</a:t>
            </a:r>
            <a:endParaRPr lang="en-US" sz="1200" dirty="0"/>
          </a:p>
        </p:txBody>
      </p:sp>
      <p:pic>
        <p:nvPicPr>
          <p:cNvPr id="27" name="Redis redis" descr="Logo redi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0" y="3721608"/>
            <a:ext cx="329184" cy="329184"/>
          </a:xfrm>
          <a:prstGeom prst="rect">
            <a:avLst/>
          </a:prstGeom>
        </p:spPr>
      </p:pic>
      <p:sp>
        <p:nvSpPr>
          <p:cNvPr id="28" name="Painel decisões"/>
          <p:cNvSpPr/>
          <p:nvPr/>
        </p:nvSpPr>
        <p:spPr>
          <a:xfrm>
            <a:off x="5760720" y="987552"/>
            <a:ext cx="2926080" cy="3200400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29" name="Text 20"/>
          <p:cNvSpPr txBox="1"/>
          <p:nvPr/>
        </p:nvSpPr>
        <p:spPr>
          <a:xfrm>
            <a:off x="5943600" y="1097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de projeto</a:t>
            </a:r>
            <a:endParaRPr lang="en-US" sz="1400" dirty="0"/>
          </a:p>
        </p:txBody>
      </p:sp>
      <p:sp>
        <p:nvSpPr>
          <p:cNvPr id="30" name="Text 21"/>
          <p:cNvSpPr txBox="1"/>
          <p:nvPr/>
        </p:nvSpPr>
        <p:spPr>
          <a:xfrm>
            <a:off x="5943600" y="1417320"/>
            <a:ext cx="2606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Monólito modular, não microsserviços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vertical antes da horizontal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no lugar de Kafka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Kubernetes nesta fase</a:t>
            </a:r>
            <a:endParaRPr lang="en-US" sz="1200" dirty="0"/>
          </a:p>
        </p:txBody>
      </p:sp>
      <p:sp>
        <p:nvSpPr>
          <p:cNvPr id="31" name="Text 22"/>
          <p:cNvSpPr txBox="1"/>
          <p:nvPr/>
        </p:nvSpPr>
        <p:spPr>
          <a:xfrm>
            <a:off x="5943600" y="30175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400" dirty="0"/>
          </a:p>
        </p:txBody>
      </p:sp>
      <p:pic>
        <p:nvPicPr>
          <p:cNvPr id="32" name="Stack node" descr="Logo nod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0" y="3337560"/>
            <a:ext cx="384048" cy="384048"/>
          </a:xfrm>
          <a:prstGeom prst="rect">
            <a:avLst/>
          </a:prstGeom>
        </p:spPr>
      </p:pic>
      <p:pic>
        <p:nvPicPr>
          <p:cNvPr id="33" name="Stack ts" descr="Logo ts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9088" y="3337560"/>
            <a:ext cx="384048" cy="384048"/>
          </a:xfrm>
          <a:prstGeom prst="rect">
            <a:avLst/>
          </a:prstGeom>
        </p:spPr>
      </p:pic>
      <p:pic>
        <p:nvPicPr>
          <p:cNvPr id="34" name="Stack fastify" descr="Logo fastify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94576" y="3337560"/>
            <a:ext cx="384048" cy="384048"/>
          </a:xfrm>
          <a:prstGeom prst="rect">
            <a:avLst/>
          </a:prstGeom>
        </p:spPr>
      </p:pic>
      <p:pic>
        <p:nvPicPr>
          <p:cNvPr id="35" name="Stack react" descr="Logo react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70064" y="3337560"/>
            <a:ext cx="384048" cy="384048"/>
          </a:xfrm>
          <a:prstGeom prst="rect">
            <a:avLst/>
          </a:prstGeom>
        </p:spPr>
      </p:pic>
      <p:pic>
        <p:nvPicPr>
          <p:cNvPr id="36" name="Stack vite" descr="Logo vite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45552" y="3337560"/>
            <a:ext cx="384048" cy="384048"/>
          </a:xfrm>
          <a:prstGeom prst="rect">
            <a:avLst/>
          </a:prstGeom>
        </p:spPr>
      </p:pic>
      <p:pic>
        <p:nvPicPr>
          <p:cNvPr id="37" name="Stack tailwind" descr="Logo tailwind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43600" y="3794760"/>
            <a:ext cx="384048" cy="384048"/>
          </a:xfrm>
          <a:prstGeom prst="rect">
            <a:avLst/>
          </a:prstGeom>
        </p:spPr>
      </p:pic>
      <p:pic>
        <p:nvPicPr>
          <p:cNvPr id="38" name="Stack pg" descr="Logo p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19088" y="3794760"/>
            <a:ext cx="384048" cy="384048"/>
          </a:xfrm>
          <a:prstGeom prst="rect">
            <a:avLst/>
          </a:prstGeom>
        </p:spPr>
      </p:pic>
      <p:pic>
        <p:nvPicPr>
          <p:cNvPr id="39" name="Stack redis" descr="Logo redis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94576" y="3794760"/>
            <a:ext cx="384048" cy="384048"/>
          </a:xfrm>
          <a:prstGeom prst="rect">
            <a:avLst/>
          </a:prstGeom>
        </p:spPr>
      </p:pic>
      <p:pic>
        <p:nvPicPr>
          <p:cNvPr id="40" name="Stack prisma" descr="Logo prisma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70064" y="3794760"/>
            <a:ext cx="384048" cy="384048"/>
          </a:xfrm>
          <a:prstGeom prst="rect">
            <a:avLst/>
          </a:prstGeom>
        </p:spPr>
      </p:pic>
      <p:pic>
        <p:nvPicPr>
          <p:cNvPr id="41" name="Stack vitest" descr="Logo vitest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845552" y="3794760"/>
            <a:ext cx="384048" cy="384048"/>
          </a:xfrm>
          <a:prstGeom prst="rect">
            <a:avLst/>
          </a:prstGeom>
        </p:spPr>
      </p:pic>
      <p:sp>
        <p:nvSpPr>
          <p:cNvPr id="42" name="Text 23"/>
          <p:cNvSpPr txBox="1"/>
          <p:nvPr/>
        </p:nvSpPr>
        <p:spPr>
          <a:xfrm>
            <a:off x="457200" y="43708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Elaborado pelos autores (2026). Arquitetura de produção especificada; nenhum provedor contratado.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AA9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saúde e segurança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8755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Quadro 1 – Estratégia multi-tenant (trecho SQL)</a:t>
            </a:r>
            <a:endParaRPr lang="en-US" sz="1000" dirty="0"/>
          </a:p>
        </p:txBody>
      </p:sp>
      <p:sp>
        <p:nvSpPr>
          <p:cNvPr id="4" name="Bloco de código"/>
          <p:cNvSpPr/>
          <p:nvPr/>
        </p:nvSpPr>
        <p:spPr>
          <a:xfrm>
            <a:off x="457200" y="1261872"/>
            <a:ext cx="3931920" cy="1965960"/>
          </a:xfrm>
          <a:prstGeom prst="roundRect">
            <a:avLst>
              <a:gd name="adj" fmla="val 372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3611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consultas 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tenant_id    UUID,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          UUID,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paciente_id  UUID,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PRIMARY KEY (id)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B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filtro por tenant_id em toda consulta</a:t>
            </a:r>
            <a:endParaRPr lang="en-US" sz="1100" dirty="0"/>
          </a:p>
        </p:txBody>
      </p:sp>
      <p:pic>
        <p:nvPicPr>
          <p:cNvPr id="6" name="Código pgW" descr="Logo pg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1389888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338328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clínica não vê dados de outra: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filtro por tenant é aplicado na API e coberto por 10 testes automatizados. RLS no banco é o próximo passo.</a:t>
            </a:r>
            <a:endParaRPr lang="en-US" sz="1300" dirty="0"/>
          </a:p>
        </p:txBody>
      </p:sp>
      <p:sp>
        <p:nvSpPr>
          <p:cNvPr id="8" name="Cartão Proteção de dados e LGPD"/>
          <p:cNvSpPr/>
          <p:nvPr/>
        </p:nvSpPr>
        <p:spPr>
          <a:xfrm>
            <a:off x="4663440" y="987552"/>
            <a:ext cx="4023360" cy="749808"/>
          </a:xfrm>
          <a:prstGeom prst="roundRect">
            <a:avLst>
              <a:gd name="adj" fmla="val 9756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9" name="Ícone Proteção de dados e LGPD círculo"/>
          <p:cNvSpPr/>
          <p:nvPr/>
        </p:nvSpPr>
        <p:spPr>
          <a:xfrm>
            <a:off x="4800600" y="1170432"/>
            <a:ext cx="384048" cy="38404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0" name="Ícone Proteção de dados e LGPD" descr="Ícone Proteção de dados e LGP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6612" y="1266444"/>
            <a:ext cx="192024" cy="19202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49240" y="105156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de dados e LGPD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5349240" y="1280160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de CPF com sal, exclusão lógica e consentimento. Adequação jurídica ainda não iniciada.</a:t>
            </a:r>
            <a:endParaRPr lang="en-US" sz="1100" dirty="0"/>
          </a:p>
        </p:txBody>
      </p:sp>
      <p:sp>
        <p:nvSpPr>
          <p:cNvPr id="13" name="Cartão Limites de requisição"/>
          <p:cNvSpPr/>
          <p:nvPr/>
        </p:nvSpPr>
        <p:spPr>
          <a:xfrm>
            <a:off x="4663440" y="1828800"/>
            <a:ext cx="4023360" cy="749808"/>
          </a:xfrm>
          <a:prstGeom prst="roundRect">
            <a:avLst>
              <a:gd name="adj" fmla="val 9756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14" name="Ícone Limites de requisição círculo"/>
          <p:cNvSpPr/>
          <p:nvPr/>
        </p:nvSpPr>
        <p:spPr>
          <a:xfrm>
            <a:off x="4800600" y="2011680"/>
            <a:ext cx="384048" cy="38404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5" name="Ícone Limites de requisição" descr="Ícone Limites de requisiçã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6612" y="2107692"/>
            <a:ext cx="192024" cy="19202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349240" y="189280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de requisição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5349240" y="2121408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protege a API de abuso e sobrecarga, inclusive no login (5 por minuto).</a:t>
            </a:r>
            <a:endParaRPr lang="en-US" sz="1100" dirty="0"/>
          </a:p>
        </p:txBody>
      </p:sp>
      <p:sp>
        <p:nvSpPr>
          <p:cNvPr id="18" name="Cartão Isolamento por tenant"/>
          <p:cNvSpPr/>
          <p:nvPr/>
        </p:nvSpPr>
        <p:spPr>
          <a:xfrm>
            <a:off x="4663440" y="2670048"/>
            <a:ext cx="4023360" cy="749808"/>
          </a:xfrm>
          <a:prstGeom prst="roundRect">
            <a:avLst>
              <a:gd name="adj" fmla="val 9756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19" name="Ícone Isolamento por tenant círculo"/>
          <p:cNvSpPr/>
          <p:nvPr/>
        </p:nvSpPr>
        <p:spPr>
          <a:xfrm>
            <a:off x="4800600" y="2852928"/>
            <a:ext cx="384048" cy="38404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0" name="Ícone Isolamento por tenant" descr="Ícone Isolamento por tenan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6612" y="2948940"/>
            <a:ext cx="192024" cy="19202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349240" y="2734056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Isolamento por tenant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5349240" y="2962656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clínica não lê, edita nem remove dados de outra, comprovado em testes HTTP contra o banco.</a:t>
            </a:r>
            <a:endParaRPr lang="en-US" sz="1100" dirty="0"/>
          </a:p>
        </p:txBody>
      </p:sp>
      <p:sp>
        <p:nvSpPr>
          <p:cNvPr id="23" name="Cartão Resiliência"/>
          <p:cNvSpPr/>
          <p:nvPr/>
        </p:nvSpPr>
        <p:spPr>
          <a:xfrm>
            <a:off x="4663440" y="3511296"/>
            <a:ext cx="4023360" cy="749808"/>
          </a:xfrm>
          <a:prstGeom prst="roundRect">
            <a:avLst>
              <a:gd name="adj" fmla="val 9756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24" name="Ícone Resiliência círculo"/>
          <p:cNvSpPr/>
          <p:nvPr/>
        </p:nvSpPr>
        <p:spPr>
          <a:xfrm>
            <a:off x="4800600" y="3694176"/>
            <a:ext cx="384048" cy="38404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5" name="Ícone Resiliência" descr="Ícone Resiliênci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6612" y="3790188"/>
            <a:ext cx="192024" cy="19202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349240" y="3575304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Resiliência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5349240" y="3803904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e restauração testados: restore em 0,5 s com o volume do seed (meta: até 30 min).</a:t>
            </a:r>
            <a:endParaRPr lang="en-US" sz="1100" dirty="0"/>
          </a:p>
        </p:txBody>
      </p:sp>
      <p:sp>
        <p:nvSpPr>
          <p:cNvPr id="28" name="Text 21"/>
          <p:cNvSpPr txBox="1"/>
          <p:nvPr/>
        </p:nvSpPr>
        <p:spPr>
          <a:xfrm>
            <a:off x="457200" y="4434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Elaborado pelos autores (2026). Isolamento por tenant e limites testados; RLS, carga completa e adequação à LGPD pendentes.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AA9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e limitações do projeto</a:t>
            </a:r>
            <a:endParaRPr lang="en-US" sz="2800" dirty="0"/>
          </a:p>
        </p:txBody>
      </p:sp>
      <p:sp>
        <p:nvSpPr>
          <p:cNvPr id="3" name="Etapa Ideação"/>
          <p:cNvSpPr/>
          <p:nvPr/>
        </p:nvSpPr>
        <p:spPr>
          <a:xfrm>
            <a:off x="457200" y="1005840"/>
            <a:ext cx="1280160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4" name="Ícone Ideação círculo"/>
          <p:cNvSpPr/>
          <p:nvPr/>
        </p:nvSpPr>
        <p:spPr>
          <a:xfrm>
            <a:off x="868680" y="1115568"/>
            <a:ext cx="457200" cy="4572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5" name="Ícone Ideação" descr="Ícone Ideaçã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229868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16459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Ideação</a:t>
            </a:r>
            <a:endParaRPr lang="en-US" sz="1200" dirty="0"/>
          </a:p>
        </p:txBody>
      </p:sp>
      <p:sp>
        <p:nvSpPr>
          <p:cNvPr id="7" name="Status Ideação"/>
          <p:cNvSpPr/>
          <p:nvPr/>
        </p:nvSpPr>
        <p:spPr>
          <a:xfrm>
            <a:off x="548640" y="2212848"/>
            <a:ext cx="1097280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2128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Concluída</a:t>
            </a:r>
            <a:endParaRPr lang="en-US" sz="1000" dirty="0"/>
          </a:p>
        </p:txBody>
      </p:sp>
      <p:sp>
        <p:nvSpPr>
          <p:cNvPr id="9" name="Etapa Desenvolvimento"/>
          <p:cNvSpPr/>
          <p:nvPr/>
        </p:nvSpPr>
        <p:spPr>
          <a:xfrm>
            <a:off x="1847088" y="1005840"/>
            <a:ext cx="1280160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10" name="Ícone Desenvolvimento círculo"/>
          <p:cNvSpPr/>
          <p:nvPr/>
        </p:nvSpPr>
        <p:spPr>
          <a:xfrm>
            <a:off x="2258568" y="1115568"/>
            <a:ext cx="457200" cy="4572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1" name="Ícone Desenvolvimento" descr="Ícone Desenvolviment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2868" y="1229868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892808" y="16459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</a:t>
            </a:r>
            <a:endParaRPr lang="en-US" sz="1200" dirty="0"/>
          </a:p>
        </p:txBody>
      </p:sp>
      <p:sp>
        <p:nvSpPr>
          <p:cNvPr id="13" name="Status Desenvolvimento"/>
          <p:cNvSpPr/>
          <p:nvPr/>
        </p:nvSpPr>
        <p:spPr>
          <a:xfrm>
            <a:off x="1938528" y="2212848"/>
            <a:ext cx="109728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1938528" y="22128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andamento</a:t>
            </a:r>
            <a:endParaRPr lang="en-US" sz="1000" dirty="0"/>
          </a:p>
        </p:txBody>
      </p:sp>
      <p:sp>
        <p:nvSpPr>
          <p:cNvPr id="15" name="Etapa Testes técnicos"/>
          <p:cNvSpPr/>
          <p:nvPr/>
        </p:nvSpPr>
        <p:spPr>
          <a:xfrm>
            <a:off x="3236976" y="1005840"/>
            <a:ext cx="1280160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16" name="Ícone Testes técnicos círculo"/>
          <p:cNvSpPr/>
          <p:nvPr/>
        </p:nvSpPr>
        <p:spPr>
          <a:xfrm>
            <a:off x="3648456" y="1115568"/>
            <a:ext cx="457200" cy="4572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7" name="Ícone Testes técnicos" descr="Ícone Testes técnico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2756" y="1229868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282696" y="16459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técnicos</a:t>
            </a:r>
            <a:endParaRPr lang="en-US" sz="1200" dirty="0"/>
          </a:p>
        </p:txBody>
      </p:sp>
      <p:sp>
        <p:nvSpPr>
          <p:cNvPr id="19" name="Status Testes técnicos"/>
          <p:cNvSpPr/>
          <p:nvPr/>
        </p:nvSpPr>
        <p:spPr>
          <a:xfrm>
            <a:off x="3328416" y="2212848"/>
            <a:ext cx="1097280" cy="2743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3328416" y="22128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 (Vitest)</a:t>
            </a:r>
            <a:endParaRPr lang="en-US" sz="1000" dirty="0"/>
          </a:p>
        </p:txBody>
      </p:sp>
      <p:sp>
        <p:nvSpPr>
          <p:cNvPr id="21" name="Etapa Validação com usuários"/>
          <p:cNvSpPr/>
          <p:nvPr/>
        </p:nvSpPr>
        <p:spPr>
          <a:xfrm>
            <a:off x="4626864" y="1005840"/>
            <a:ext cx="1280160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22" name="Ícone Validação com usuários círculo"/>
          <p:cNvSpPr/>
          <p:nvPr/>
        </p:nvSpPr>
        <p:spPr>
          <a:xfrm>
            <a:off x="5038344" y="1115568"/>
            <a:ext cx="457200" cy="4572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3" name="Ícone Validação com usuários" descr="Ícone Validação com usuário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2644" y="1229868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4672584" y="16459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com usuários</a:t>
            </a:r>
            <a:endParaRPr lang="en-US" sz="1200" dirty="0"/>
          </a:p>
        </p:txBody>
      </p:sp>
      <p:sp>
        <p:nvSpPr>
          <p:cNvPr id="25" name="Status Validação com usuários"/>
          <p:cNvSpPr/>
          <p:nvPr/>
        </p:nvSpPr>
        <p:spPr>
          <a:xfrm>
            <a:off x="4718304" y="2212848"/>
            <a:ext cx="1097280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4718304" y="22128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iniciada</a:t>
            </a:r>
            <a:endParaRPr lang="en-US" sz="1000" dirty="0"/>
          </a:p>
        </p:txBody>
      </p:sp>
      <p:sp>
        <p:nvSpPr>
          <p:cNvPr id="27" name="Etapa Produção"/>
          <p:cNvSpPr/>
          <p:nvPr/>
        </p:nvSpPr>
        <p:spPr>
          <a:xfrm>
            <a:off x="6016752" y="1005840"/>
            <a:ext cx="1280160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28" name="Ícone Produção círculo"/>
          <p:cNvSpPr/>
          <p:nvPr/>
        </p:nvSpPr>
        <p:spPr>
          <a:xfrm>
            <a:off x="6428232" y="1115568"/>
            <a:ext cx="457200" cy="4572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9" name="Ícone Produção" descr="Ícone Produçã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2532" y="1229868"/>
            <a:ext cx="228600" cy="22860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6062472" y="16459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</a:t>
            </a:r>
            <a:endParaRPr lang="en-US" sz="1200" dirty="0"/>
          </a:p>
        </p:txBody>
      </p:sp>
      <p:sp>
        <p:nvSpPr>
          <p:cNvPr id="31" name="Status Produção"/>
          <p:cNvSpPr/>
          <p:nvPr/>
        </p:nvSpPr>
        <p:spPr>
          <a:xfrm>
            <a:off x="6108192" y="2212848"/>
            <a:ext cx="1097280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6108192" y="22128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iniciada</a:t>
            </a:r>
            <a:endParaRPr lang="en-US" sz="1000" dirty="0"/>
          </a:p>
        </p:txBody>
      </p:sp>
      <p:sp>
        <p:nvSpPr>
          <p:cNvPr id="33" name="Etapa Comercialização"/>
          <p:cNvSpPr/>
          <p:nvPr/>
        </p:nvSpPr>
        <p:spPr>
          <a:xfrm>
            <a:off x="7406640" y="1005840"/>
            <a:ext cx="1280160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34" name="Ícone Comercialização círculo"/>
          <p:cNvSpPr/>
          <p:nvPr/>
        </p:nvSpPr>
        <p:spPr>
          <a:xfrm>
            <a:off x="7818120" y="1115568"/>
            <a:ext cx="457200" cy="4572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35" name="Ícone Comercialização" descr="Ícone Comercializaçã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2420" y="1229868"/>
            <a:ext cx="228600" cy="228600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7452360" y="16459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Comercialização</a:t>
            </a:r>
            <a:endParaRPr lang="en-US" sz="1200" dirty="0"/>
          </a:p>
        </p:txBody>
      </p:sp>
      <p:sp>
        <p:nvSpPr>
          <p:cNvPr id="37" name="Status Comercialização"/>
          <p:cNvSpPr/>
          <p:nvPr/>
        </p:nvSpPr>
        <p:spPr>
          <a:xfrm>
            <a:off x="7498080" y="2212848"/>
            <a:ext cx="1097280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7498080" y="22128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iniciada</a:t>
            </a:r>
            <a:endParaRPr lang="en-US" sz="1000" dirty="0"/>
          </a:p>
        </p:txBody>
      </p:sp>
      <p:sp>
        <p:nvSpPr>
          <p:cNvPr id="39" name="Painel Resultados alcançados"/>
          <p:cNvSpPr/>
          <p:nvPr/>
        </p:nvSpPr>
        <p:spPr>
          <a:xfrm>
            <a:off x="457200" y="2834640"/>
            <a:ext cx="4023360" cy="1691640"/>
          </a:xfrm>
          <a:prstGeom prst="roundRect">
            <a:avLst>
              <a:gd name="adj" fmla="val 4324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0" name="Text 32"/>
          <p:cNvSpPr txBox="1"/>
          <p:nvPr/>
        </p:nvSpPr>
        <p:spPr>
          <a:xfrm>
            <a:off x="64008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alcançados</a:t>
            </a:r>
            <a:endParaRPr lang="en-US" sz="1400" dirty="0"/>
          </a:p>
        </p:txBody>
      </p:sp>
      <p:pic>
        <p:nvPicPr>
          <p:cNvPr id="41" name="Stack funcional node" descr="Logo nod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0" y="2926080"/>
            <a:ext cx="329184" cy="329184"/>
          </a:xfrm>
          <a:prstGeom prst="rect">
            <a:avLst/>
          </a:prstGeom>
        </p:spPr>
      </p:pic>
      <p:pic>
        <p:nvPicPr>
          <p:cNvPr id="42" name="Stack funcional vitest" descr="Logo vitest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84448" y="2926080"/>
            <a:ext cx="329184" cy="329184"/>
          </a:xfrm>
          <a:prstGeom prst="rect">
            <a:avLst/>
          </a:prstGeom>
        </p:spPr>
      </p:pic>
      <p:pic>
        <p:nvPicPr>
          <p:cNvPr id="43" name="Stack funcional prisma" descr="Logo prisma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68496" y="2926080"/>
            <a:ext cx="329184" cy="329184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640080" y="3273552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e acesso por perfil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administrativo: consultas e profissionais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 e 50 testes automatizados</a:t>
            </a:r>
            <a:endParaRPr lang="en-US" sz="1300" dirty="0"/>
          </a:p>
        </p:txBody>
      </p:sp>
      <p:sp>
        <p:nvSpPr>
          <p:cNvPr id="45" name="Painel Limitações atuais"/>
          <p:cNvSpPr/>
          <p:nvPr/>
        </p:nvSpPr>
        <p:spPr>
          <a:xfrm>
            <a:off x="4663440" y="283464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FFF1D6"/>
          </a:solidFill>
          <a:ln w="12700">
            <a:solidFill>
              <a:srgbClr val="FFF1D6"/>
            </a:solidFill>
            <a:prstDash val="solid"/>
          </a:ln>
        </p:spPr>
      </p:sp>
      <p:sp>
        <p:nvSpPr>
          <p:cNvPr id="46" name="Text 35"/>
          <p:cNvSpPr txBox="1"/>
          <p:nvPr/>
        </p:nvSpPr>
        <p:spPr>
          <a:xfrm>
            <a:off x="484632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 atuais</a:t>
            </a:r>
            <a:endParaRPr lang="en-US" sz="1400" dirty="0"/>
          </a:p>
        </p:txBody>
      </p:sp>
      <p:sp>
        <p:nvSpPr>
          <p:cNvPr id="47" name="Text 36"/>
          <p:cNvSpPr txBox="1"/>
          <p:nvPr/>
        </p:nvSpPr>
        <p:spPr>
          <a:xfrm>
            <a:off x="4846320" y="3273552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do paciente em tempo real (em implementação)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carga completo, RLS e adequação à LGPD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Clientes, empresa (CNPJ) e integração com prontuários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AA9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de validação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técnicas de aceite  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k6 local: P95 8,5 ms; carga completa pendente</a:t>
            </a:r>
            <a:endParaRPr lang="en-US" sz="1200" dirty="0"/>
          </a:p>
        </p:txBody>
      </p:sp>
      <p:sp>
        <p:nvSpPr>
          <p:cNvPr id="4" name="Meta técnica 1"/>
          <p:cNvSpPr/>
          <p:nvPr/>
        </p:nvSpPr>
        <p:spPr>
          <a:xfrm>
            <a:off x="457200" y="1280160"/>
            <a:ext cx="1536192" cy="128016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02920" y="1371600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300 ms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920240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latência P95 com carga normal</a:t>
            </a:r>
            <a:endParaRPr lang="en-US" sz="1200" dirty="0"/>
          </a:p>
        </p:txBody>
      </p:sp>
      <p:sp>
        <p:nvSpPr>
          <p:cNvPr id="7" name="Meta técnica 2"/>
          <p:cNvSpPr/>
          <p:nvPr/>
        </p:nvSpPr>
        <p:spPr>
          <a:xfrm>
            <a:off x="2130552" y="1280160"/>
            <a:ext cx="1536192" cy="128016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176272" y="1371600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0,1%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2240280" y="1920240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erro 5xx</a:t>
            </a:r>
            <a:endParaRPr lang="en-US" sz="1200" dirty="0"/>
          </a:p>
        </p:txBody>
      </p:sp>
      <p:sp>
        <p:nvSpPr>
          <p:cNvPr id="10" name="Meta técnica 3"/>
          <p:cNvSpPr/>
          <p:nvPr/>
        </p:nvSpPr>
        <p:spPr>
          <a:xfrm>
            <a:off x="3803904" y="1280160"/>
            <a:ext cx="1536192" cy="128016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849624" y="1371600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913632" y="1920240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vazamentos de dados entre clínicas</a:t>
            </a:r>
            <a:endParaRPr lang="en-US" sz="1200" dirty="0"/>
          </a:p>
        </p:txBody>
      </p:sp>
      <p:sp>
        <p:nvSpPr>
          <p:cNvPr id="13" name="Meta técnica 4"/>
          <p:cNvSpPr/>
          <p:nvPr/>
        </p:nvSpPr>
        <p:spPr>
          <a:xfrm>
            <a:off x="5477256" y="1280160"/>
            <a:ext cx="1536192" cy="128016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522976" y="1371600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 min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5586984" y="1920240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restauração de backup</a:t>
            </a:r>
            <a:endParaRPr lang="en-US" sz="1200" dirty="0"/>
          </a:p>
        </p:txBody>
      </p:sp>
      <p:sp>
        <p:nvSpPr>
          <p:cNvPr id="16" name="Meta técnica 5"/>
          <p:cNvSpPr/>
          <p:nvPr/>
        </p:nvSpPr>
        <p:spPr>
          <a:xfrm>
            <a:off x="7150608" y="1280160"/>
            <a:ext cx="1536192" cy="128016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196328" y="1371600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99,9%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260336" y="1920240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disponibilidade nas primeiras 48 h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2788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do piloto de 30 dias, em Candeias-BA  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propostas, a calibrar</a:t>
            </a:r>
            <a:endParaRPr lang="en-US" sz="1200" dirty="0"/>
          </a:p>
        </p:txBody>
      </p:sp>
      <p:sp>
        <p:nvSpPr>
          <p:cNvPr id="20" name="Meta piloto 1"/>
          <p:cNvSpPr/>
          <p:nvPr/>
        </p:nvSpPr>
        <p:spPr>
          <a:xfrm>
            <a:off x="457200" y="3108960"/>
            <a:ext cx="2651760" cy="1234440"/>
          </a:xfrm>
          <a:prstGeom prst="roundRect">
            <a:avLst>
              <a:gd name="adj" fmla="val 592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3200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−20%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749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de espera percebido, frente à linha de base</a:t>
            </a:r>
            <a:endParaRPr lang="en-US" sz="1200" dirty="0"/>
          </a:p>
        </p:txBody>
      </p:sp>
      <p:sp>
        <p:nvSpPr>
          <p:cNvPr id="23" name="Meta piloto 2"/>
          <p:cNvSpPr/>
          <p:nvPr/>
        </p:nvSpPr>
        <p:spPr>
          <a:xfrm>
            <a:off x="3246120" y="3108960"/>
            <a:ext cx="2651760" cy="1234440"/>
          </a:xfrm>
          <a:prstGeom prst="roundRect">
            <a:avLst>
              <a:gd name="adj" fmla="val 592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337560" y="3200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−30%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3429000" y="3749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interrupções na recepção sobre a espera</a:t>
            </a:r>
            <a:endParaRPr lang="en-US" sz="1200" dirty="0"/>
          </a:p>
        </p:txBody>
      </p:sp>
      <p:sp>
        <p:nvSpPr>
          <p:cNvPr id="26" name="Meta piloto 3"/>
          <p:cNvSpPr/>
          <p:nvPr/>
        </p:nvSpPr>
        <p:spPr>
          <a:xfrm>
            <a:off x="6035040" y="3108960"/>
            <a:ext cx="2651760" cy="1234440"/>
          </a:xfrm>
          <a:prstGeom prst="roundRect">
            <a:avLst>
              <a:gd name="adj" fmla="val 592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126480" y="3200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4,0</a:t>
            </a:r>
            <a:endParaRPr lang="en-US" sz="3000" dirty="0"/>
          </a:p>
        </p:txBody>
      </p:sp>
      <p:sp>
        <p:nvSpPr>
          <p:cNvPr id="28" name="Text 26"/>
          <p:cNvSpPr txBox="1"/>
          <p:nvPr/>
        </p:nvSpPr>
        <p:spPr>
          <a:xfrm>
            <a:off x="6217920" y="3749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satisfação de pacientes e equipe (nota de 1 a 5)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434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metas propostas pela equipe (2026), sem base estatística. Linha de base medida por 2 semanas antes do piloto.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AA9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negócio: assinatura SaaS</a:t>
            </a:r>
            <a:endParaRPr lang="en-US" sz="2800" dirty="0"/>
          </a:p>
        </p:txBody>
      </p:sp>
      <p:sp>
        <p:nvSpPr>
          <p:cNvPr id="3" name="Plano Clínica pequena"/>
          <p:cNvSpPr/>
          <p:nvPr/>
        </p:nvSpPr>
        <p:spPr>
          <a:xfrm>
            <a:off x="457200" y="987552"/>
            <a:ext cx="484632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097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Clínica pequena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743200" y="10972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R$ 800 a 2.000 /mês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4475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5 profissionais · gestão de filas · painel completo</a:t>
            </a:r>
            <a:endParaRPr lang="en-US" sz="1200" dirty="0"/>
          </a:p>
        </p:txBody>
      </p:sp>
      <p:sp>
        <p:nvSpPr>
          <p:cNvPr id="7" name="Plano Clínica média"/>
          <p:cNvSpPr/>
          <p:nvPr/>
        </p:nvSpPr>
        <p:spPr>
          <a:xfrm>
            <a:off x="457200" y="2011680"/>
            <a:ext cx="484632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0080" y="21214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Clínica média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212140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R$ 2.500 a 4.000 /mês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46888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20 profissionais · relatórios avançados · API (a desenvolver)</a:t>
            </a:r>
            <a:endParaRPr lang="en-US" sz="1200" dirty="0"/>
          </a:p>
        </p:txBody>
      </p:sp>
      <p:sp>
        <p:nvSpPr>
          <p:cNvPr id="11" name="Plano Clínica grande"/>
          <p:cNvSpPr/>
          <p:nvPr/>
        </p:nvSpPr>
        <p:spPr>
          <a:xfrm>
            <a:off x="457200" y="3035808"/>
            <a:ext cx="48463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0080" y="314553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Clínica grande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314553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R$ 4.500+ /mês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49300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 futura: multiunidades, SLA e suporte 24/7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069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gratuito de 30 dias, sem compromisso de contrato.</a:t>
            </a:r>
            <a:endParaRPr lang="en-US" sz="1200" dirty="0"/>
          </a:p>
        </p:txBody>
      </p:sp>
      <p:sp>
        <p:nvSpPr>
          <p:cNvPr id="16" name="Indicador 1"/>
          <p:cNvSpPr/>
          <p:nvPr/>
        </p:nvSpPr>
        <p:spPr>
          <a:xfrm>
            <a:off x="5577840" y="987552"/>
            <a:ext cx="3108960" cy="9144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760720" y="10607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R$ 1.500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5760720" y="144475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operacional mensal estimado (infraestrutura: R$ 530)</a:t>
            </a:r>
            <a:endParaRPr lang="en-US" sz="1100" dirty="0"/>
          </a:p>
        </p:txBody>
      </p:sp>
      <p:sp>
        <p:nvSpPr>
          <p:cNvPr id="19" name="Indicador 2"/>
          <p:cNvSpPr/>
          <p:nvPr/>
        </p:nvSpPr>
        <p:spPr>
          <a:xfrm>
            <a:off x="5577840" y="2011680"/>
            <a:ext cx="3108960" cy="9144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60720" y="20848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clientes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5760720" y="24688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cobrem o custo de operação (ticket de R$ 1.400)</a:t>
            </a:r>
            <a:endParaRPr lang="en-US" sz="1100" dirty="0"/>
          </a:p>
        </p:txBody>
      </p:sp>
      <p:sp>
        <p:nvSpPr>
          <p:cNvPr id="22" name="Indicador 3"/>
          <p:cNvSpPr/>
          <p:nvPr/>
        </p:nvSpPr>
        <p:spPr>
          <a:xfrm>
            <a:off x="5577840" y="3035808"/>
            <a:ext cx="3108960" cy="9144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76072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5 clientes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5760720" y="349300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obtível estimado em Candeias-BA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434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estimativas da equipe (2026). Preços e mercado são hipóteses ainda não testadas com clínicas; não incluem mão de obra, impostos e suporte.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AA9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Trabalhos futuros</a:t>
            </a:r>
            <a:endParaRPr lang="en-US" sz="2800" dirty="0"/>
          </a:p>
        </p:txBody>
      </p:sp>
      <p:sp>
        <p:nvSpPr>
          <p:cNvPr id="3" name="Linha do tempo"/>
          <p:cNvSpPr/>
          <p:nvPr/>
        </p:nvSpPr>
        <p:spPr>
          <a:xfrm>
            <a:off x="1417320" y="1307592"/>
            <a:ext cx="630936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4" name="Marco 1"/>
          <p:cNvSpPr/>
          <p:nvPr/>
        </p:nvSpPr>
        <p:spPr>
          <a:xfrm>
            <a:off x="1143000" y="1033272"/>
            <a:ext cx="548640" cy="54864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10332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Fase 1"/>
          <p:cNvSpPr/>
          <p:nvPr/>
        </p:nvSpPr>
        <p:spPr>
          <a:xfrm>
            <a:off x="457200" y="1783080"/>
            <a:ext cx="1920240" cy="18288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94360" y="189280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técnico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4688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Finalizar o módulo do paciente e cumprir as metas do teste de carga.</a:t>
            </a:r>
            <a:endParaRPr lang="en-US" sz="1300" dirty="0"/>
          </a:p>
        </p:txBody>
      </p:sp>
      <p:sp>
        <p:nvSpPr>
          <p:cNvPr id="9" name="Marco 2"/>
          <p:cNvSpPr/>
          <p:nvPr/>
        </p:nvSpPr>
        <p:spPr>
          <a:xfrm>
            <a:off x="3246120" y="1033272"/>
            <a:ext cx="548640" cy="54864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46120" y="10332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Fase 2"/>
          <p:cNvSpPr/>
          <p:nvPr/>
        </p:nvSpPr>
        <p:spPr>
          <a:xfrm>
            <a:off x="2560320" y="1783080"/>
            <a:ext cx="1920240" cy="18288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2697480" y="189280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Adequação jurídica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697480" y="24688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Termos de uso, política de privacidade e formalização da LGPD.</a:t>
            </a:r>
            <a:endParaRPr lang="en-US" sz="1300" dirty="0"/>
          </a:p>
        </p:txBody>
      </p:sp>
      <p:sp>
        <p:nvSpPr>
          <p:cNvPr id="14" name="Marco 3"/>
          <p:cNvSpPr/>
          <p:nvPr/>
        </p:nvSpPr>
        <p:spPr>
          <a:xfrm>
            <a:off x="5349240" y="1033272"/>
            <a:ext cx="548640" cy="54864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49240" y="10332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Fase 3"/>
          <p:cNvSpPr/>
          <p:nvPr/>
        </p:nvSpPr>
        <p:spPr>
          <a:xfrm>
            <a:off x="4663440" y="1783080"/>
            <a:ext cx="1920240" cy="18288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800600" y="189280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e validação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800600" y="24688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dias em clínica(s) de Candeias-BA, medindo a espera percebida.</a:t>
            </a:r>
            <a:endParaRPr lang="en-US" sz="1300" dirty="0"/>
          </a:p>
        </p:txBody>
      </p:sp>
      <p:sp>
        <p:nvSpPr>
          <p:cNvPr id="19" name="Marco 4"/>
          <p:cNvSpPr/>
          <p:nvPr/>
        </p:nvSpPr>
        <p:spPr>
          <a:xfrm>
            <a:off x="7452360" y="1033272"/>
            <a:ext cx="548640" cy="54864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52360" y="10332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Fase 4"/>
          <p:cNvSpPr/>
          <p:nvPr/>
        </p:nvSpPr>
        <p:spPr>
          <a:xfrm>
            <a:off x="6766560" y="1783080"/>
            <a:ext cx="1920240" cy="18288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903720" y="189280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e aceleração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24688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os dados do piloto, decidir sobre a empresa (CNPJ) e a comercialização.</a:t>
            </a:r>
            <a:endParaRPr lang="en-US" sz="1300" dirty="0"/>
          </a:p>
        </p:txBody>
      </p:sp>
      <p:sp>
        <p:nvSpPr>
          <p:cNvPr id="24" name="Destaque jurídico"/>
          <p:cNvSpPr/>
          <p:nvPr/>
        </p:nvSpPr>
        <p:spPr>
          <a:xfrm>
            <a:off x="457200" y="388620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38862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validação jurídica (LGPD) vem antes do piloto, porque o piloto envolve dados pessoais sensíveis.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AA9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Considerações finais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“Construir software requer pensar além do código.”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aprendemos</a:t>
            </a:r>
            <a:endParaRPr lang="en-US" sz="1400" dirty="0"/>
          </a:p>
        </p:txBody>
      </p:sp>
      <p:sp>
        <p:nvSpPr>
          <p:cNvPr id="5" name="Cartão Simplicidade"/>
          <p:cNvSpPr/>
          <p:nvPr/>
        </p:nvSpPr>
        <p:spPr>
          <a:xfrm>
            <a:off x="457200" y="205740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14304D"/>
          </a:solidFill>
          <a:ln w="12700">
            <a:solidFill>
              <a:srgbClr val="14304D"/>
            </a:solidFill>
            <a:prstDash val="solid"/>
          </a:ln>
        </p:spPr>
      </p:sp>
      <p:sp>
        <p:nvSpPr>
          <p:cNvPr id="6" name="Ícone Simplicidade círculo"/>
          <p:cNvSpPr/>
          <p:nvPr/>
        </p:nvSpPr>
        <p:spPr>
          <a:xfrm>
            <a:off x="640080" y="219456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Ícone Simplicidade" descr="Ícone Simplicida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2297430"/>
            <a:ext cx="205740" cy="2057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88720" y="2194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Simplicidade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7432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Monólito modular em vez de microsserviços para uma equipe pequena.</a:t>
            </a:r>
            <a:endParaRPr lang="en-US" sz="1200" dirty="0"/>
          </a:p>
        </p:txBody>
      </p:sp>
      <p:sp>
        <p:nvSpPr>
          <p:cNvPr id="10" name="Cartão Isolamento"/>
          <p:cNvSpPr/>
          <p:nvPr/>
        </p:nvSpPr>
        <p:spPr>
          <a:xfrm>
            <a:off x="3246120" y="205740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14304D"/>
          </a:solidFill>
          <a:ln w="12700">
            <a:solidFill>
              <a:srgbClr val="14304D"/>
            </a:solidFill>
            <a:prstDash val="solid"/>
          </a:ln>
        </p:spPr>
      </p:sp>
      <p:sp>
        <p:nvSpPr>
          <p:cNvPr id="11" name="Ícone Isolamento círculo"/>
          <p:cNvSpPr/>
          <p:nvPr/>
        </p:nvSpPr>
        <p:spPr>
          <a:xfrm>
            <a:off x="3429000" y="219456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Ícone Isolamento" descr="Ícone Isolament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1870" y="2297430"/>
            <a:ext cx="205740" cy="2057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977640" y="2194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Isolamento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3429000" y="27432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saúde exigem separar clínicas: hoje na API, em breve no banco (RLS).</a:t>
            </a:r>
            <a:endParaRPr lang="en-US" sz="1200" dirty="0"/>
          </a:p>
        </p:txBody>
      </p:sp>
      <p:sp>
        <p:nvSpPr>
          <p:cNvPr id="15" name="Cartão Viabilidade"/>
          <p:cNvSpPr/>
          <p:nvPr/>
        </p:nvSpPr>
        <p:spPr>
          <a:xfrm>
            <a:off x="6035040" y="205740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14304D"/>
          </a:solidFill>
          <a:ln w="12700">
            <a:solidFill>
              <a:srgbClr val="14304D"/>
            </a:solidFill>
            <a:prstDash val="solid"/>
          </a:ln>
        </p:spPr>
      </p:sp>
      <p:sp>
        <p:nvSpPr>
          <p:cNvPr id="16" name="Ícone Viabilidade círculo"/>
          <p:cNvSpPr/>
          <p:nvPr/>
        </p:nvSpPr>
        <p:spPr>
          <a:xfrm>
            <a:off x="6217920" y="219456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Ícone Viabilidade" descr="Ícone Viabilidad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0790" y="2297430"/>
            <a:ext cx="205740" cy="2057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766560" y="2194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Viabilidade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6217920" y="27432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Funcionar não basta: LGPD, custo de infraestrutura e adoção real.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457200" y="3840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  </a:t>
            </a:r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da banca?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AA9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ealthFlow">
  <a:themeElements>
    <a:clrScheme name="HealthFlow">
      <a:dk1>
        <a:srgbClr val="0A1F33"/>
      </a:dk1>
      <a:lt1>
        <a:srgbClr val="FFFFFF"/>
      </a:lt1>
      <a:dk2>
        <a:srgbClr val="5B6B7B"/>
      </a:dk2>
      <a:lt2>
        <a:srgbClr val="F7F9FB"/>
      </a:lt2>
      <a:accent1>
        <a:srgbClr val="0E7C6B"/>
      </a:accent1>
      <a:accent2>
        <a:srgbClr val="1BB5A0"/>
      </a:accent2>
      <a:accent3>
        <a:srgbClr val="B5E36B"/>
      </a:accent3>
      <a:accent4>
        <a:srgbClr val="E8A33D"/>
      </a:accent4>
      <a:accent5>
        <a:srgbClr val="DDE4EB"/>
      </a:accent5>
      <a:accent6>
        <a:srgbClr val="E3F6F3"/>
      </a:accent6>
      <a:hlink>
        <a:srgbClr val="0E7C6B"/>
      </a:hlink>
      <a:folHlink>
        <a:srgbClr val="5B6B7B"/>
      </a:folHlink>
    </a:clrScheme>
    <a:fontScheme name="HealthFlow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HealthFlow - Trabalho de Conclusão de Curso (TCC)</dc:title>
  <dc:subject>PptxGenJS Presentation</dc:subject>
  <dc:creator>Equipe HealthFlow</dc:creator>
  <cp:lastModifiedBy>Equipe HealthFlow</cp:lastModifiedBy>
  <cp:revision>1</cp:revision>
  <dcterms:created xsi:type="dcterms:W3CDTF">2026-10-14T01:12:01Z</dcterms:created>
  <dcterms:modified xsi:type="dcterms:W3CDTF">2026-10-14T01:12:01Z</dcterms:modified>
</cp:coreProperties>
</file>